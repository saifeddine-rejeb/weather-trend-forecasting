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5"/>
  </p:notesMasterIdLst>
  <p:sldIdLst>
    <p:sldId id="256" r:id="rId2"/>
    <p:sldId id="265" r:id="rId3"/>
    <p:sldId id="257" r:id="rId4"/>
    <p:sldId id="285" r:id="rId5"/>
    <p:sldId id="286" r:id="rId6"/>
    <p:sldId id="287" r:id="rId7"/>
    <p:sldId id="288" r:id="rId8"/>
    <p:sldId id="289" r:id="rId9"/>
    <p:sldId id="266" r:id="rId10"/>
    <p:sldId id="290" r:id="rId11"/>
    <p:sldId id="291" r:id="rId12"/>
    <p:sldId id="292" r:id="rId13"/>
    <p:sldId id="293" r:id="rId14"/>
    <p:sldId id="294" r:id="rId15"/>
    <p:sldId id="296" r:id="rId16"/>
    <p:sldId id="297" r:id="rId17"/>
    <p:sldId id="298" r:id="rId18"/>
    <p:sldId id="299" r:id="rId19"/>
    <p:sldId id="300" r:id="rId20"/>
    <p:sldId id="301" r:id="rId21"/>
    <p:sldId id="302" r:id="rId22"/>
    <p:sldId id="264" r:id="rId23"/>
    <p:sldId id="30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A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5033" autoAdjust="0"/>
  </p:normalViewPr>
  <p:slideViewPr>
    <p:cSldViewPr snapToGrid="0" snapToObjects="1">
      <p:cViewPr varScale="1">
        <p:scale>
          <a:sx n="82" d="100"/>
          <a:sy n="82" d="100"/>
        </p:scale>
        <p:origin x="206" y="67"/>
      </p:cViewPr>
      <p:guideLst>
        <p:guide orient="horz" pos="2160"/>
        <p:guide pos="2880"/>
      </p:guideLst>
    </p:cSldViewPr>
  </p:slideViewPr>
  <p:outlineViewPr>
    <p:cViewPr>
      <p:scale>
        <a:sx n="20" d="100"/>
        <a:sy n="20"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E03E99-5AF2-47B9-A992-3CA29696267C}" type="datetimeFigureOut">
              <a:rPr lang="fr-FR" smtClean="0"/>
              <a:t>27/04/2026</a:t>
            </a:fld>
            <a:endParaRPr lang="fr-F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B67ACB-3535-410C-8B81-CA2FB268640F}" type="slidenum">
              <a:rPr lang="fr-FR" smtClean="0"/>
              <a:t>‹#›</a:t>
            </a:fld>
            <a:endParaRPr lang="fr-FR"/>
          </a:p>
        </p:txBody>
      </p:sp>
    </p:spTree>
    <p:extLst>
      <p:ext uri="{BB962C8B-B14F-4D97-AF65-F5344CB8AC3E}">
        <p14:creationId xmlns:p14="http://schemas.microsoft.com/office/powerpoint/2010/main" val="863559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B4B67ACB-3535-410C-8B81-CA2FB268640F}" type="slidenum">
              <a:rPr lang="fr-FR" smtClean="0"/>
              <a:t>15</a:t>
            </a:fld>
            <a:endParaRPr lang="fr-FR"/>
          </a:p>
        </p:txBody>
      </p:sp>
    </p:spTree>
    <p:extLst>
      <p:ext uri="{BB962C8B-B14F-4D97-AF65-F5344CB8AC3E}">
        <p14:creationId xmlns:p14="http://schemas.microsoft.com/office/powerpoint/2010/main" val="493023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B4B67ACB-3535-410C-8B81-CA2FB268640F}" type="slidenum">
              <a:rPr lang="fr-FR" smtClean="0"/>
              <a:t>18</a:t>
            </a:fld>
            <a:endParaRPr lang="fr-FR"/>
          </a:p>
        </p:txBody>
      </p:sp>
    </p:spTree>
    <p:extLst>
      <p:ext uri="{BB962C8B-B14F-4D97-AF65-F5344CB8AC3E}">
        <p14:creationId xmlns:p14="http://schemas.microsoft.com/office/powerpoint/2010/main" val="2904967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B4B67ACB-3535-410C-8B81-CA2FB268640F}" type="slidenum">
              <a:rPr lang="fr-FR" smtClean="0"/>
              <a:t>23</a:t>
            </a:fld>
            <a:endParaRPr lang="fr-FR"/>
          </a:p>
        </p:txBody>
      </p:sp>
    </p:spTree>
    <p:extLst>
      <p:ext uri="{BB962C8B-B14F-4D97-AF65-F5344CB8AC3E}">
        <p14:creationId xmlns:p14="http://schemas.microsoft.com/office/powerpoint/2010/main" val="2720996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2628" y="770467"/>
            <a:ext cx="8086725"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500634" y="4198409"/>
            <a:ext cx="692115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fld id="{DDB45781-EBC8-4928-B76D-036A75941224}" type="datetime1">
              <a:rPr lang="en-US" smtClean="0"/>
              <a:t>4/27/2026</a:t>
            </a:fld>
            <a:endParaRPr lang="en-US"/>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8410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B9D1B1-199F-450C-8684-DBFD2DB7288C}" type="datetime1">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0867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2628" y="767419"/>
            <a:ext cx="8085582" cy="3355848"/>
          </a:xfrm>
        </p:spPr>
        <p:txBody>
          <a:bodyPr anchor="b">
            <a:normAutofit/>
          </a:bodyPr>
          <a:lstStyle>
            <a:lvl1pPr>
              <a:lnSpc>
                <a:spcPct val="80000"/>
              </a:lnSpc>
              <a:defRPr sz="80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00634" y="4187275"/>
            <a:ext cx="6919722" cy="1645920"/>
          </a:xfrm>
        </p:spPr>
        <p:txBody>
          <a:bodyPr anchor="t">
            <a:normAutofit/>
          </a:bodyPr>
          <a:lstStyle>
            <a:lvl1pPr marL="0" indent="0">
              <a:buNone/>
              <a:defRPr sz="28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B11FA2-8CE5-4F95-9B1A-104F1AEF63EE}" type="datetime1">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223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7492"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7738"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12F2FF-3354-4782-A282-0EF95D956977}" type="datetime1">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9250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07492" y="2032000"/>
            <a:ext cx="3806190" cy="723400"/>
          </a:xfrm>
        </p:spPr>
        <p:txBody>
          <a:bodyPr anchor="ctr">
            <a:normAutofit/>
          </a:bodyPr>
          <a:lstStyle>
            <a:lvl1pPr marL="0" indent="0">
              <a:spcBef>
                <a:spcPts val="0"/>
              </a:spcBef>
              <a:buNone/>
              <a:defRPr sz="20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7492" y="2736150"/>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66310" y="2029968"/>
            <a:ext cx="3806190" cy="722376"/>
          </a:xfrm>
        </p:spPr>
        <p:txBody>
          <a:bodyPr anchor="ctr">
            <a:normAutofit/>
          </a:bodyPr>
          <a:lstStyle>
            <a:lvl1pPr marL="0" indent="0">
              <a:spcBef>
                <a:spcPts val="0"/>
              </a:spcBef>
              <a:buNone/>
              <a:defRPr sz="20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310" y="2734056"/>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040A48-D852-400C-BF0C-4E6267059D67}" type="datetime1">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4273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BD9586-BF26-4537-8053-73A3202E4E64}" type="datetime1">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0767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88AA2E-1968-4597-8703-FAFDC1CFADDD}" type="datetime1">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9181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5715000" y="0"/>
            <a:ext cx="3429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6196053" y="542282"/>
            <a:ext cx="2537460" cy="1920240"/>
          </a:xfrm>
        </p:spPr>
        <p:txBody>
          <a:bodyPr anchor="b">
            <a:noAutofit/>
          </a:bodyPr>
          <a:lstStyle>
            <a:lvl1pPr>
              <a:lnSpc>
                <a:spcPct val="85000"/>
              </a:lnSpc>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1500" y="762000"/>
            <a:ext cx="4572000" cy="4572000"/>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06987" y="2511813"/>
            <a:ext cx="254889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5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B9A988F9-8ECF-45FE-982F-AE26DE9CECE2}" type="datetime1">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01836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918" y="5418668"/>
            <a:ext cx="8085582" cy="613283"/>
          </a:xfrm>
        </p:spPr>
        <p:txBody>
          <a:bodyPr anchor="b">
            <a:normAutofit/>
          </a:bodyPr>
          <a:lstStyle>
            <a:lvl1pPr>
              <a:lnSpc>
                <a:spcPct val="85000"/>
              </a:lnSpc>
              <a:defRPr sz="2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9144000" cy="5330952"/>
          </a:xfrm>
          <a:solidFill>
            <a:schemeClr val="accent1">
              <a:lumMod val="40000"/>
              <a:lumOff val="60000"/>
            </a:schemeClr>
          </a:solidFill>
        </p:spPr>
        <p:txBody>
          <a:bodyPr anchor="t"/>
          <a:lstStyle>
            <a:lvl1pPr marL="0" indent="0" algn="ctr">
              <a:spcBef>
                <a:spcPts val="800"/>
              </a:spcBef>
              <a:buNone/>
              <a:defRPr sz="3200">
                <a:solidFill>
                  <a:srgbClr val="4D4D4D"/>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07492" y="5909735"/>
            <a:ext cx="6922008" cy="533400"/>
          </a:xfrm>
        </p:spPr>
        <p:txBody>
          <a:bodyPr>
            <a:normAutofit/>
          </a:bodyPr>
          <a:lstStyle>
            <a:lvl1pPr marL="0" indent="0">
              <a:lnSpc>
                <a:spcPct val="90000"/>
              </a:lnSpc>
              <a:spcBef>
                <a:spcPts val="1200"/>
              </a:spcBef>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75000"/>
                  </a:srgbClr>
                </a:solidFill>
              </a:defRPr>
            </a:lvl1pPr>
          </a:lstStyle>
          <a:p>
            <a:fld id="{E229B7CC-F6D4-4F73-9C0C-E1F5F856A64A}" type="datetime1">
              <a:rPr lang="en-US" smtClean="0"/>
              <a:t>4/27/2026</a:t>
            </a:fld>
            <a:endParaRPr lang="en-US"/>
          </a:p>
        </p:txBody>
      </p:sp>
      <p:sp>
        <p:nvSpPr>
          <p:cNvPr id="6" name="Footer Placeholder 5"/>
          <p:cNvSpPr>
            <a:spLocks noGrp="1"/>
          </p:cNvSpPr>
          <p:nvPr>
            <p:ph type="ftr" sz="quarter" idx="11"/>
          </p:nvPr>
        </p:nvSpPr>
        <p:spPr/>
        <p:txBody>
          <a:bodyPr/>
          <a:lstStyle>
            <a:lvl1pPr>
              <a:defRPr>
                <a:solidFill>
                  <a:srgbClr val="FFFFFF">
                    <a:alpha val="75000"/>
                  </a:srgb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9776411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F70C09-0303-423B-A447-2A09B7A29896}" type="datetime1">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9919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7963" y="695325"/>
            <a:ext cx="1971675"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8644" y="714376"/>
            <a:ext cx="5800725"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01A5A0-E3BF-4DE0-ABA8-DFBA2B1B285B}" type="datetime1">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38209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2919" y="499533"/>
            <a:ext cx="8079581"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07206" y="1993393"/>
            <a:ext cx="8065294"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4350" y="6412447"/>
            <a:ext cx="3086100" cy="228600"/>
          </a:xfrm>
          <a:prstGeom prst="rect">
            <a:avLst/>
          </a:prstGeom>
        </p:spPr>
        <p:txBody>
          <a:bodyPr vert="horz" lIns="91440" tIns="45720" rIns="91440" bIns="45720" rtlCol="0" anchor="ctr"/>
          <a:lstStyle>
            <a:lvl1pPr algn="l">
              <a:defRPr sz="950">
                <a:solidFill>
                  <a:schemeClr val="tx1">
                    <a:alpha val="75000"/>
                  </a:schemeClr>
                </a:solidFill>
              </a:defRPr>
            </a:lvl1pPr>
          </a:lstStyle>
          <a:p>
            <a:fld id="{8EC2680C-EBA3-4D74-AEF0-68CA3454B3EE}" type="datetime1">
              <a:rPr lang="en-US" smtClean="0"/>
              <a:t>4/27/2026</a:t>
            </a:fld>
            <a:endParaRPr lang="en-US"/>
          </a:p>
        </p:txBody>
      </p:sp>
      <p:sp>
        <p:nvSpPr>
          <p:cNvPr id="5" name="Footer Placeholder 4"/>
          <p:cNvSpPr>
            <a:spLocks noGrp="1"/>
          </p:cNvSpPr>
          <p:nvPr>
            <p:ph type="ftr" sz="quarter" idx="3"/>
          </p:nvPr>
        </p:nvSpPr>
        <p:spPr>
          <a:xfrm>
            <a:off x="514350" y="6554697"/>
            <a:ext cx="3771900" cy="228600"/>
          </a:xfrm>
          <a:prstGeom prst="rect">
            <a:avLst/>
          </a:prstGeom>
        </p:spPr>
        <p:txBody>
          <a:bodyPr vert="horz" lIns="91440" tIns="45720" rIns="91440" bIns="45720" rtlCol="0" anchor="ctr"/>
          <a:lstStyle>
            <a:lvl1pPr algn="l">
              <a:defRPr sz="950" cap="all" baseline="0">
                <a:solidFill>
                  <a:schemeClr val="tx1">
                    <a:alpha val="75000"/>
                  </a:schemeClr>
                </a:solidFill>
              </a:defRPr>
            </a:lvl1pPr>
          </a:lstStyle>
          <a:p>
            <a:endParaRPr lang="en-US"/>
          </a:p>
        </p:txBody>
      </p:sp>
      <p:sp>
        <p:nvSpPr>
          <p:cNvPr id="6" name="Slide Number Placeholder 5"/>
          <p:cNvSpPr>
            <a:spLocks noGrp="1"/>
          </p:cNvSpPr>
          <p:nvPr>
            <p:ph type="sldNum" sz="quarter" idx="4"/>
          </p:nvPr>
        </p:nvSpPr>
        <p:spPr>
          <a:xfrm>
            <a:off x="6541193" y="5829748"/>
            <a:ext cx="2194560" cy="1397039"/>
          </a:xfrm>
          <a:prstGeom prst="rect">
            <a:avLst/>
          </a:prstGeom>
        </p:spPr>
        <p:txBody>
          <a:bodyPr vert="horz" lIns="91440" tIns="45720" rIns="91440" bIns="45720" rtlCol="0" anchor="b"/>
          <a:lstStyle>
            <a:lvl1pPr algn="r">
              <a:defRPr sz="9000" b="0">
                <a:ln>
                  <a:noFill/>
                </a:ln>
                <a:solidFill>
                  <a:schemeClr val="accent1">
                    <a:alpha val="20000"/>
                  </a:schemeClr>
                </a:solidFill>
                <a:latin typeface="+mj-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377027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E50961-0F1B-484C-85BC-4BD16B9FF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Weather data Images - Free Download on Freepik">
            <a:extLst>
              <a:ext uri="{FF2B5EF4-FFF2-40B4-BE49-F238E27FC236}">
                <a16:creationId xmlns:a16="http://schemas.microsoft.com/office/drawing/2014/main" id="{5C31D9DE-EA1A-0DAE-AFB9-F3DAEB47B878}"/>
              </a:ext>
            </a:extLst>
          </p:cNvPr>
          <p:cNvPicPr>
            <a:picLocks noChangeAspect="1" noChangeArrowheads="1"/>
          </p:cNvPicPr>
          <p:nvPr/>
        </p:nvPicPr>
        <p:blipFill>
          <a:blip r:embed="rId2">
            <a:alphaModFix amt="85000"/>
            <a:extLst>
              <a:ext uri="{BEBA8EAE-BF5A-486C-A8C5-ECC9F3942E4B}">
                <a14:imgProps xmlns:a14="http://schemas.microsoft.com/office/drawing/2010/main">
                  <a14:imgLayer r:embed="rId3">
                    <a14:imgEffect>
                      <a14:artisticBlur radius="11"/>
                    </a14:imgEffect>
                    <a14:imgEffect>
                      <a14:colorTemperature colorTemp="11500"/>
                    </a14:imgEffect>
                    <a14:imgEffect>
                      <a14:saturation sat="64000"/>
                    </a14:imgEffect>
                  </a14:imgLayer>
                </a14:imgProps>
              </a:ext>
              <a:ext uri="{28A0092B-C50C-407E-A947-70E740481C1C}">
                <a14:useLocalDpi xmlns:a14="http://schemas.microsoft.com/office/drawing/2010/main" val="0"/>
              </a:ext>
            </a:extLst>
          </a:blip>
          <a:srcRect/>
          <a:stretch>
            <a:fillRect/>
          </a:stretch>
        </p:blipFill>
        <p:spPr bwMode="auto">
          <a:xfrm>
            <a:off x="0" y="0"/>
            <a:ext cx="9144000" cy="6836843"/>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452628" y="770467"/>
            <a:ext cx="8086725" cy="2837972"/>
          </a:xfrm>
        </p:spPr>
        <p:txBody>
          <a:bodyPr>
            <a:normAutofit/>
          </a:bodyPr>
          <a:lstStyle/>
          <a:p>
            <a:r>
              <a:rPr lang="en-US" sz="7200" dirty="0">
                <a:solidFill>
                  <a:schemeClr val="tx1"/>
                </a:solidFill>
              </a:rPr>
              <a:t>Weather Data Analysis &amp; Forecasting</a:t>
            </a:r>
          </a:p>
        </p:txBody>
      </p:sp>
      <p:sp>
        <p:nvSpPr>
          <p:cNvPr id="3" name="Subtitle 2"/>
          <p:cNvSpPr>
            <a:spLocks noGrp="1"/>
          </p:cNvSpPr>
          <p:nvPr>
            <p:ph type="subTitle" idx="1"/>
          </p:nvPr>
        </p:nvSpPr>
        <p:spPr>
          <a:xfrm>
            <a:off x="500634" y="4206876"/>
            <a:ext cx="6921150" cy="1645920"/>
          </a:xfrm>
        </p:spPr>
        <p:txBody>
          <a:bodyPr>
            <a:normAutofit/>
          </a:bodyPr>
          <a:lstStyle/>
          <a:p>
            <a:r>
              <a:rPr lang="en-US" dirty="0">
                <a:solidFill>
                  <a:schemeClr val="tx1"/>
                </a:solidFill>
              </a:rPr>
              <a:t>Technical Assessment | Data Scientist</a:t>
            </a:r>
          </a:p>
          <a:p>
            <a:r>
              <a:rPr lang="en-US" dirty="0">
                <a:solidFill>
                  <a:schemeClr val="tx1"/>
                </a:solidFill>
              </a:rPr>
              <a:t>April 26, 2026</a:t>
            </a:r>
          </a:p>
          <a:p>
            <a:r>
              <a:rPr lang="en-US" dirty="0">
                <a:solidFill>
                  <a:schemeClr val="tx1"/>
                </a:solidFill>
              </a:rPr>
              <a:t>By Saifeddine Rejeb</a:t>
            </a:r>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79D66-3020-9456-2A03-4FB553F5D2EB}"/>
              </a:ext>
            </a:extLst>
          </p:cNvPr>
          <p:cNvSpPr>
            <a:spLocks noGrp="1"/>
          </p:cNvSpPr>
          <p:nvPr>
            <p:ph type="title"/>
          </p:nvPr>
        </p:nvSpPr>
        <p:spPr/>
        <p:txBody>
          <a:bodyPr/>
          <a:lstStyle/>
          <a:p>
            <a:r>
              <a:rPr lang="en-US" dirty="0">
                <a:solidFill>
                  <a:srgbClr val="FF4A00"/>
                </a:solidFill>
              </a:rPr>
              <a:t>Mission</a:t>
            </a:r>
          </a:p>
        </p:txBody>
      </p:sp>
      <p:sp>
        <p:nvSpPr>
          <p:cNvPr id="3" name="Content Placeholder 2">
            <a:extLst>
              <a:ext uri="{FF2B5EF4-FFF2-40B4-BE49-F238E27FC236}">
                <a16:creationId xmlns:a16="http://schemas.microsoft.com/office/drawing/2014/main" id="{11C4D61B-4052-88DB-D3CD-81282F2D1578}"/>
              </a:ext>
            </a:extLst>
          </p:cNvPr>
          <p:cNvSpPr>
            <a:spLocks noGrp="1"/>
          </p:cNvSpPr>
          <p:nvPr>
            <p:ph idx="1"/>
          </p:nvPr>
        </p:nvSpPr>
        <p:spPr/>
        <p:txBody>
          <a:bodyPr/>
          <a:lstStyle/>
          <a:p>
            <a:r>
              <a:rPr lang="en-US" dirty="0"/>
              <a:t>By making industry-leading tools and education available to individuals from all backgrounds, we level the playing field for future PM leaders. This is the PM Accelerator motto, as we grant aspiring and experienced PMs what they need most – Access. We introduce you to industry leaders, surround you with the right PM ecosystem, and discover the new world of AI product management skills</a:t>
            </a:r>
          </a:p>
        </p:txBody>
      </p:sp>
      <p:pic>
        <p:nvPicPr>
          <p:cNvPr id="1026" name="Picture 2" descr="Resources Page">
            <a:extLst>
              <a:ext uri="{FF2B5EF4-FFF2-40B4-BE49-F238E27FC236}">
                <a16:creationId xmlns:a16="http://schemas.microsoft.com/office/drawing/2014/main" id="{89CAD0AA-7602-8D82-6226-D0B957BB57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0501" y="886775"/>
            <a:ext cx="1959769" cy="747162"/>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1C82ABA6-F2D0-7C55-4E85-EF9D22AB66B0}"/>
              </a:ext>
            </a:extLst>
          </p:cNvPr>
          <p:cNvSpPr>
            <a:spLocks noGrp="1"/>
          </p:cNvSpPr>
          <p:nvPr>
            <p:ph type="sldNum" sz="quarter" idx="12"/>
          </p:nvPr>
        </p:nvSpPr>
        <p:spPr/>
        <p:txBody>
          <a:bodyPr/>
          <a:lstStyle/>
          <a:p>
            <a:fld id="{C1FF6DA9-008F-8B48-92A6-B652298478BF}" type="slidenum">
              <a:rPr lang="en-US" smtClean="0"/>
              <a:t>2</a:t>
            </a:fld>
            <a:endParaRPr lang="en-US" dirty="0"/>
          </a:p>
        </p:txBody>
      </p:sp>
    </p:spTree>
    <p:extLst>
      <p:ext uri="{BB962C8B-B14F-4D97-AF65-F5344CB8AC3E}">
        <p14:creationId xmlns:p14="http://schemas.microsoft.com/office/powerpoint/2010/main" val="500764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FF4A00"/>
                </a:solidFill>
              </a:rPr>
              <a:t>Introduction</a:t>
            </a:r>
          </a:p>
        </p:txBody>
      </p:sp>
      <p:sp>
        <p:nvSpPr>
          <p:cNvPr id="3" name="Content Placeholder 2"/>
          <p:cNvSpPr>
            <a:spLocks noGrp="1"/>
          </p:cNvSpPr>
          <p:nvPr>
            <p:ph idx="1"/>
          </p:nvPr>
        </p:nvSpPr>
        <p:spPr/>
        <p:txBody>
          <a:bodyPr/>
          <a:lstStyle/>
          <a:p>
            <a:pPr marL="342900" lvl="1">
              <a:buFont typeface="Arial" panose="020B0604020202020204" pitchFamily="34" charset="0"/>
              <a:buChar char="•"/>
            </a:pPr>
            <a:r>
              <a:rPr dirty="0"/>
              <a:t>Goal: Analyze the 'Global Weather Repository.csv</a:t>
            </a:r>
            <a:r>
              <a:rPr lang="fr-FR" dirty="0"/>
              <a:t>'</a:t>
            </a:r>
            <a:r>
              <a:rPr dirty="0"/>
              <a:t> dataset to forecast future weather trends.</a:t>
            </a:r>
            <a:endParaRPr lang="fr-FR" dirty="0"/>
          </a:p>
          <a:p>
            <a:pPr marL="342900" lvl="1">
              <a:buFont typeface="Arial" panose="020B0604020202020204" pitchFamily="34" charset="0"/>
              <a:buChar char="•"/>
            </a:pPr>
            <a:endParaRPr lang="fr-FR" dirty="0"/>
          </a:p>
          <a:p>
            <a:pPr marL="342900" lvl="1">
              <a:buFont typeface="Arial" panose="020B0604020202020204" pitchFamily="34" charset="0"/>
              <a:buChar char="•"/>
            </a:pPr>
            <a:r>
              <a:rPr dirty="0"/>
              <a:t>Dataset contains </a:t>
            </a:r>
            <a:r>
              <a:rPr lang="fr-FR" dirty="0"/>
              <a:t>137,803</a:t>
            </a:r>
            <a:r>
              <a:rPr dirty="0"/>
              <a:t> records with 41 columns related to global weather conditions.</a:t>
            </a:r>
            <a:endParaRPr lang="fr-FR" dirty="0"/>
          </a:p>
          <a:p>
            <a:pPr lvl="1">
              <a:buFont typeface="Arial" panose="020B0604020202020204" pitchFamily="34" charset="0"/>
              <a:buChar char="•"/>
            </a:pPr>
            <a:endParaRPr lang="fr-FR" dirty="0"/>
          </a:p>
          <a:p>
            <a:pPr marL="342900" lvl="1">
              <a:buFont typeface="Arial" panose="020B0604020202020204" pitchFamily="34" charset="0"/>
              <a:buChar char="•"/>
            </a:pPr>
            <a:r>
              <a:rPr lang="fr-FR" dirty="0"/>
              <a:t>Focus: Tunis, Tunisia; </a:t>
            </a:r>
            <a:r>
              <a:rPr lang="fr-FR" dirty="0" err="1"/>
              <a:t>Mediterranean</a:t>
            </a:r>
            <a:r>
              <a:rPr lang="fr-FR" dirty="0"/>
              <a:t> </a:t>
            </a:r>
            <a:r>
              <a:rPr lang="fr-FR" dirty="0" err="1"/>
              <a:t>climate</a:t>
            </a:r>
            <a:r>
              <a:rPr lang="fr-FR" dirty="0"/>
              <a:t>, single-location model for temporal </a:t>
            </a:r>
            <a:r>
              <a:rPr lang="fr-FR" dirty="0" err="1"/>
              <a:t>continuity</a:t>
            </a:r>
            <a:endParaRPr dirty="0"/>
          </a:p>
        </p:txBody>
      </p:sp>
      <p:sp>
        <p:nvSpPr>
          <p:cNvPr id="5" name="Slide Number Placeholder 4">
            <a:extLst>
              <a:ext uri="{FF2B5EF4-FFF2-40B4-BE49-F238E27FC236}">
                <a16:creationId xmlns:a16="http://schemas.microsoft.com/office/drawing/2014/main" id="{EADAB306-906F-8111-0F5A-48607CE4A034}"/>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915B3-064E-D610-CCB8-075A042F7223}"/>
              </a:ext>
            </a:extLst>
          </p:cNvPr>
          <p:cNvSpPr>
            <a:spLocks noGrp="1"/>
          </p:cNvSpPr>
          <p:nvPr>
            <p:ph type="title"/>
          </p:nvPr>
        </p:nvSpPr>
        <p:spPr>
          <a:xfrm>
            <a:off x="492919" y="499533"/>
            <a:ext cx="8079581" cy="1181783"/>
          </a:xfrm>
        </p:spPr>
        <p:txBody>
          <a:bodyPr/>
          <a:lstStyle/>
          <a:p>
            <a:r>
              <a:rPr lang="fr-FR" dirty="0">
                <a:solidFill>
                  <a:srgbClr val="FF4A00"/>
                </a:solidFill>
              </a:rPr>
              <a:t>Data Exploration</a:t>
            </a:r>
          </a:p>
        </p:txBody>
      </p:sp>
      <p:sp>
        <p:nvSpPr>
          <p:cNvPr id="3" name="Content Placeholder 2">
            <a:extLst>
              <a:ext uri="{FF2B5EF4-FFF2-40B4-BE49-F238E27FC236}">
                <a16:creationId xmlns:a16="http://schemas.microsoft.com/office/drawing/2014/main" id="{1609C69B-C479-007C-F736-0BF713519650}"/>
              </a:ext>
            </a:extLst>
          </p:cNvPr>
          <p:cNvSpPr>
            <a:spLocks noGrp="1"/>
          </p:cNvSpPr>
          <p:nvPr>
            <p:ph idx="1"/>
          </p:nvPr>
        </p:nvSpPr>
        <p:spPr>
          <a:xfrm>
            <a:off x="492919" y="1545907"/>
            <a:ext cx="8065294" cy="3766185"/>
          </a:xfrm>
        </p:spPr>
        <p:txBody>
          <a:bodyPr/>
          <a:lstStyle/>
          <a:p>
            <a:r>
              <a:rPr lang="en-US" dirty="0"/>
              <a:t>• Dataset contains country, location, latitude, longitude, </a:t>
            </a:r>
            <a:r>
              <a:rPr lang="en-US" dirty="0" err="1"/>
              <a:t>timezone</a:t>
            </a:r>
            <a:r>
              <a:rPr lang="en-US" dirty="0"/>
              <a:t>, temperature, wind, air quality, and celestial data.</a:t>
            </a:r>
          </a:p>
          <a:p>
            <a:r>
              <a:rPr lang="en-US" dirty="0"/>
              <a:t>• Data inspection showed no missing values and no duplicates.</a:t>
            </a:r>
          </a:p>
          <a:p>
            <a:r>
              <a:rPr lang="en-US" dirty="0"/>
              <a:t>• Key variables include temperature, wind speed, air quality indices, and moon illumination.</a:t>
            </a:r>
          </a:p>
          <a:p>
            <a:endParaRPr lang="fr-FR" dirty="0"/>
          </a:p>
        </p:txBody>
      </p:sp>
      <p:pic>
        <p:nvPicPr>
          <p:cNvPr id="4" name="Picture 3">
            <a:extLst>
              <a:ext uri="{FF2B5EF4-FFF2-40B4-BE49-F238E27FC236}">
                <a16:creationId xmlns:a16="http://schemas.microsoft.com/office/drawing/2014/main" id="{E41F1CA3-4835-7480-4418-1FBD84E0AF60}"/>
              </a:ext>
            </a:extLst>
          </p:cNvPr>
          <p:cNvPicPr>
            <a:picLocks noChangeAspect="1"/>
          </p:cNvPicPr>
          <p:nvPr/>
        </p:nvPicPr>
        <p:blipFill>
          <a:blip r:embed="rId2"/>
          <a:srcRect l="968"/>
          <a:stretch>
            <a:fillRect/>
          </a:stretch>
        </p:blipFill>
        <p:spPr>
          <a:xfrm>
            <a:off x="0" y="4161980"/>
            <a:ext cx="9144000" cy="2696020"/>
          </a:xfrm>
          <a:prstGeom prst="rect">
            <a:avLst/>
          </a:prstGeom>
        </p:spPr>
      </p:pic>
      <p:sp>
        <p:nvSpPr>
          <p:cNvPr id="6" name="Slide Number Placeholder 5">
            <a:extLst>
              <a:ext uri="{FF2B5EF4-FFF2-40B4-BE49-F238E27FC236}">
                <a16:creationId xmlns:a16="http://schemas.microsoft.com/office/drawing/2014/main" id="{9B510734-4262-95B0-4E8D-E3BB28A6F557}"/>
              </a:ext>
            </a:extLst>
          </p:cNvPr>
          <p:cNvSpPr>
            <a:spLocks noGrp="1"/>
          </p:cNvSpPr>
          <p:nvPr>
            <p:ph type="sldNum" sz="quarter" idx="12"/>
          </p:nvPr>
        </p:nvSpPr>
        <p:spPr/>
        <p:txBody>
          <a:bodyPr/>
          <a:lstStyle/>
          <a:p>
            <a:fld id="{C1FF6DA9-008F-8B48-92A6-B652298478BF}" type="slidenum">
              <a:rPr lang="en-US" smtClean="0"/>
              <a:t>4</a:t>
            </a:fld>
            <a:endParaRPr lang="en-US"/>
          </a:p>
        </p:txBody>
      </p:sp>
    </p:spTree>
    <p:extLst>
      <p:ext uri="{BB962C8B-B14F-4D97-AF65-F5344CB8AC3E}">
        <p14:creationId xmlns:p14="http://schemas.microsoft.com/office/powerpoint/2010/main" val="2651341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684A4-86EB-D41D-8501-D18E7B8C8CED}"/>
              </a:ext>
            </a:extLst>
          </p:cNvPr>
          <p:cNvSpPr>
            <a:spLocks noGrp="1"/>
          </p:cNvSpPr>
          <p:nvPr>
            <p:ph type="title"/>
          </p:nvPr>
        </p:nvSpPr>
        <p:spPr>
          <a:xfrm>
            <a:off x="492919" y="499533"/>
            <a:ext cx="8079581" cy="1063796"/>
          </a:xfrm>
        </p:spPr>
        <p:txBody>
          <a:bodyPr/>
          <a:lstStyle/>
          <a:p>
            <a:r>
              <a:rPr lang="fr-FR" dirty="0">
                <a:solidFill>
                  <a:srgbClr val="FF4A00"/>
                </a:solidFill>
              </a:rPr>
              <a:t>Data </a:t>
            </a:r>
            <a:r>
              <a:rPr lang="fr-FR" dirty="0" err="1">
                <a:solidFill>
                  <a:srgbClr val="FF4A00"/>
                </a:solidFill>
              </a:rPr>
              <a:t>Cleaning</a:t>
            </a:r>
            <a:r>
              <a:rPr lang="fr-FR" dirty="0">
                <a:solidFill>
                  <a:srgbClr val="FF4A00"/>
                </a:solidFill>
              </a:rPr>
              <a:t> &amp; </a:t>
            </a:r>
            <a:r>
              <a:rPr lang="fr-FR" dirty="0" err="1">
                <a:solidFill>
                  <a:srgbClr val="FF4A00"/>
                </a:solidFill>
              </a:rPr>
              <a:t>Preparation</a:t>
            </a:r>
            <a:endParaRPr lang="fr-FR" dirty="0">
              <a:solidFill>
                <a:srgbClr val="FF4A00"/>
              </a:solidFill>
            </a:endParaRPr>
          </a:p>
        </p:txBody>
      </p:sp>
      <p:sp>
        <p:nvSpPr>
          <p:cNvPr id="3" name="Content Placeholder 2">
            <a:extLst>
              <a:ext uri="{FF2B5EF4-FFF2-40B4-BE49-F238E27FC236}">
                <a16:creationId xmlns:a16="http://schemas.microsoft.com/office/drawing/2014/main" id="{8096E5E4-C44F-0116-F77E-857F29032BEB}"/>
              </a:ext>
            </a:extLst>
          </p:cNvPr>
          <p:cNvSpPr>
            <a:spLocks noGrp="1"/>
          </p:cNvSpPr>
          <p:nvPr>
            <p:ph idx="1"/>
          </p:nvPr>
        </p:nvSpPr>
        <p:spPr>
          <a:xfrm>
            <a:off x="492919" y="1683558"/>
            <a:ext cx="3865499" cy="4520596"/>
          </a:xfrm>
        </p:spPr>
        <p:txBody>
          <a:bodyPr>
            <a:normAutofit/>
          </a:bodyPr>
          <a:lstStyle/>
          <a:p>
            <a:r>
              <a:rPr lang="en-US" dirty="0"/>
              <a:t>• Converted timestamp to datetime format.</a:t>
            </a:r>
          </a:p>
          <a:p>
            <a:endParaRPr lang="en-US" dirty="0"/>
          </a:p>
          <a:p>
            <a:r>
              <a:rPr lang="en-US" dirty="0"/>
              <a:t>• </a:t>
            </a:r>
            <a:r>
              <a:rPr lang="fr-FR" dirty="0"/>
              <a:t>Dropped </a:t>
            </a:r>
            <a:r>
              <a:rPr lang="fr-FR" dirty="0" err="1"/>
              <a:t>redundant</a:t>
            </a:r>
            <a:r>
              <a:rPr lang="fr-FR" dirty="0"/>
              <a:t> </a:t>
            </a:r>
            <a:r>
              <a:rPr lang="fr-FR" dirty="0" err="1"/>
              <a:t>column</a:t>
            </a:r>
            <a:r>
              <a:rPr lang="fr-FR" dirty="0"/>
              <a:t> last </a:t>
            </a:r>
            <a:r>
              <a:rPr lang="fr-FR" dirty="0" err="1"/>
              <a:t>updated</a:t>
            </a:r>
            <a:r>
              <a:rPr lang="fr-FR" dirty="0"/>
              <a:t> </a:t>
            </a:r>
            <a:r>
              <a:rPr lang="fr-FR" dirty="0" err="1"/>
              <a:t>epoch</a:t>
            </a:r>
            <a:r>
              <a:rPr lang="fr-FR" dirty="0"/>
              <a:t> </a:t>
            </a:r>
          </a:p>
          <a:p>
            <a:endParaRPr lang="fr-FR" dirty="0"/>
          </a:p>
          <a:p>
            <a:r>
              <a:rPr lang="en-US" dirty="0"/>
              <a:t>• </a:t>
            </a:r>
            <a:r>
              <a:rPr lang="en-US" dirty="0" err="1"/>
              <a:t>Normalised</a:t>
            </a:r>
            <a:r>
              <a:rPr lang="en-US" dirty="0"/>
              <a:t> country names written in non-English scripts (Arabic, Russian, Portuguese, German, French) to their English equivalents</a:t>
            </a:r>
          </a:p>
          <a:p>
            <a:endParaRPr lang="en-US" dirty="0"/>
          </a:p>
          <a:p>
            <a:endParaRPr lang="fr-FR" dirty="0"/>
          </a:p>
        </p:txBody>
      </p:sp>
      <p:pic>
        <p:nvPicPr>
          <p:cNvPr id="9" name="Picture 8">
            <a:extLst>
              <a:ext uri="{FF2B5EF4-FFF2-40B4-BE49-F238E27FC236}">
                <a16:creationId xmlns:a16="http://schemas.microsoft.com/office/drawing/2014/main" id="{AB1B8C0A-C825-32C7-D12D-9F2F84CAEED3}"/>
              </a:ext>
            </a:extLst>
          </p:cNvPr>
          <p:cNvPicPr>
            <a:picLocks noChangeAspect="1"/>
          </p:cNvPicPr>
          <p:nvPr/>
        </p:nvPicPr>
        <p:blipFill>
          <a:blip r:embed="rId2"/>
          <a:stretch>
            <a:fillRect/>
          </a:stretch>
        </p:blipFill>
        <p:spPr>
          <a:xfrm>
            <a:off x="4532709" y="1563329"/>
            <a:ext cx="4462936" cy="5094133"/>
          </a:xfrm>
          <a:prstGeom prst="rect">
            <a:avLst/>
          </a:prstGeom>
        </p:spPr>
      </p:pic>
      <p:sp>
        <p:nvSpPr>
          <p:cNvPr id="11" name="Slide Number Placeholder 10">
            <a:extLst>
              <a:ext uri="{FF2B5EF4-FFF2-40B4-BE49-F238E27FC236}">
                <a16:creationId xmlns:a16="http://schemas.microsoft.com/office/drawing/2014/main" id="{105327CA-051A-9784-53C2-2364C7E682E5}"/>
              </a:ext>
            </a:extLst>
          </p:cNvPr>
          <p:cNvSpPr>
            <a:spLocks noGrp="1"/>
          </p:cNvSpPr>
          <p:nvPr>
            <p:ph type="sldNum" sz="quarter" idx="12"/>
          </p:nvPr>
        </p:nvSpPr>
        <p:spPr/>
        <p:txBody>
          <a:bodyPr/>
          <a:lstStyle/>
          <a:p>
            <a:fld id="{C1FF6DA9-008F-8B48-92A6-B652298478BF}" type="slidenum">
              <a:rPr lang="en-US" smtClean="0"/>
              <a:t>5</a:t>
            </a:fld>
            <a:endParaRPr lang="en-US"/>
          </a:p>
        </p:txBody>
      </p:sp>
    </p:spTree>
    <p:extLst>
      <p:ext uri="{BB962C8B-B14F-4D97-AF65-F5344CB8AC3E}">
        <p14:creationId xmlns:p14="http://schemas.microsoft.com/office/powerpoint/2010/main" val="644187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8D8F1-2AAC-1230-A61B-7CE9F7A63463}"/>
              </a:ext>
            </a:extLst>
          </p:cNvPr>
          <p:cNvSpPr>
            <a:spLocks noGrp="1"/>
          </p:cNvSpPr>
          <p:nvPr>
            <p:ph type="title"/>
          </p:nvPr>
        </p:nvSpPr>
        <p:spPr>
          <a:xfrm>
            <a:off x="492919" y="499533"/>
            <a:ext cx="8079581" cy="1014635"/>
          </a:xfrm>
        </p:spPr>
        <p:txBody>
          <a:bodyPr/>
          <a:lstStyle/>
          <a:p>
            <a:r>
              <a:rPr lang="fr-FR" dirty="0" err="1">
                <a:solidFill>
                  <a:srgbClr val="FF4A00"/>
                </a:solidFill>
              </a:rPr>
              <a:t>Outlier</a:t>
            </a:r>
            <a:r>
              <a:rPr lang="fr-FR" dirty="0">
                <a:solidFill>
                  <a:srgbClr val="FF4A00"/>
                </a:solidFill>
              </a:rPr>
              <a:t> </a:t>
            </a:r>
            <a:r>
              <a:rPr lang="fr-FR" dirty="0" err="1">
                <a:solidFill>
                  <a:srgbClr val="FF4A00"/>
                </a:solidFill>
              </a:rPr>
              <a:t>Detection</a:t>
            </a:r>
            <a:endParaRPr lang="fr-FR" dirty="0">
              <a:solidFill>
                <a:srgbClr val="FF4A00"/>
              </a:solidFill>
            </a:endParaRPr>
          </a:p>
        </p:txBody>
      </p:sp>
      <p:sp>
        <p:nvSpPr>
          <p:cNvPr id="9" name="TextBox 8">
            <a:extLst>
              <a:ext uri="{FF2B5EF4-FFF2-40B4-BE49-F238E27FC236}">
                <a16:creationId xmlns:a16="http://schemas.microsoft.com/office/drawing/2014/main" id="{FD656A5A-38E9-401A-5D1E-94A901DAB7F2}"/>
              </a:ext>
            </a:extLst>
          </p:cNvPr>
          <p:cNvSpPr txBox="1"/>
          <p:nvPr/>
        </p:nvSpPr>
        <p:spPr>
          <a:xfrm>
            <a:off x="393289" y="1456773"/>
            <a:ext cx="8858865" cy="409023"/>
          </a:xfrm>
          <a:prstGeom prst="rect">
            <a:avLst/>
          </a:prstGeom>
          <a:noFill/>
        </p:spPr>
        <p:txBody>
          <a:bodyPr wrap="square">
            <a:spAutoFit/>
          </a:bodyPr>
          <a:lstStyle/>
          <a:p>
            <a:pPr marL="91440" indent="-91440" defTabSz="914400">
              <a:lnSpc>
                <a:spcPct val="85000"/>
              </a:lnSpc>
              <a:spcBef>
                <a:spcPts val="1300"/>
              </a:spcBef>
              <a:buFont typeface="Arial" pitchFamily="34" charset="0"/>
              <a:buChar char=" "/>
            </a:pPr>
            <a:r>
              <a:rPr lang="en-US" sz="2400" dirty="0">
                <a:solidFill>
                  <a:schemeClr val="tx1">
                    <a:lumMod val="85000"/>
                    <a:lumOff val="15000"/>
                  </a:schemeClr>
                </a:solidFill>
              </a:rPr>
              <a:t>Used IQR (1.5 * IQR) and Z-score (±3 std) methods.</a:t>
            </a:r>
          </a:p>
        </p:txBody>
      </p:sp>
      <p:graphicFrame>
        <p:nvGraphicFramePr>
          <p:cNvPr id="10" name="Table 9">
            <a:extLst>
              <a:ext uri="{FF2B5EF4-FFF2-40B4-BE49-F238E27FC236}">
                <a16:creationId xmlns:a16="http://schemas.microsoft.com/office/drawing/2014/main" id="{AA695200-C674-EBE0-154F-745CA207CE1F}"/>
              </a:ext>
            </a:extLst>
          </p:cNvPr>
          <p:cNvGraphicFramePr>
            <a:graphicFrameLocks noGrp="1"/>
          </p:cNvGraphicFramePr>
          <p:nvPr>
            <p:extLst>
              <p:ext uri="{D42A27DB-BD31-4B8C-83A1-F6EECF244321}">
                <p14:modId xmlns:p14="http://schemas.microsoft.com/office/powerpoint/2010/main" val="2525808986"/>
              </p:ext>
            </p:extLst>
          </p:nvPr>
        </p:nvGraphicFramePr>
        <p:xfrm>
          <a:off x="578353" y="2217426"/>
          <a:ext cx="7908712" cy="3829776"/>
        </p:xfrm>
        <a:graphic>
          <a:graphicData uri="http://schemas.openxmlformats.org/drawingml/2006/table">
            <a:tbl>
              <a:tblPr>
                <a:tableStyleId>{073A0DAA-6AF3-43AB-8588-CEC1D06C72B9}</a:tableStyleId>
              </a:tblPr>
              <a:tblGrid>
                <a:gridCol w="1977178">
                  <a:extLst>
                    <a:ext uri="{9D8B030D-6E8A-4147-A177-3AD203B41FA5}">
                      <a16:colId xmlns:a16="http://schemas.microsoft.com/office/drawing/2014/main" val="2405585383"/>
                    </a:ext>
                  </a:extLst>
                </a:gridCol>
                <a:gridCol w="1977178">
                  <a:extLst>
                    <a:ext uri="{9D8B030D-6E8A-4147-A177-3AD203B41FA5}">
                      <a16:colId xmlns:a16="http://schemas.microsoft.com/office/drawing/2014/main" val="238296406"/>
                    </a:ext>
                  </a:extLst>
                </a:gridCol>
                <a:gridCol w="1977178">
                  <a:extLst>
                    <a:ext uri="{9D8B030D-6E8A-4147-A177-3AD203B41FA5}">
                      <a16:colId xmlns:a16="http://schemas.microsoft.com/office/drawing/2014/main" val="3713899635"/>
                    </a:ext>
                  </a:extLst>
                </a:gridCol>
                <a:gridCol w="1977178">
                  <a:extLst>
                    <a:ext uri="{9D8B030D-6E8A-4147-A177-3AD203B41FA5}">
                      <a16:colId xmlns:a16="http://schemas.microsoft.com/office/drawing/2014/main" val="204189676"/>
                    </a:ext>
                  </a:extLst>
                </a:gridCol>
              </a:tblGrid>
              <a:tr h="358624">
                <a:tc>
                  <a:txBody>
                    <a:bodyPr/>
                    <a:lstStyle/>
                    <a:p>
                      <a:pPr>
                        <a:buNone/>
                      </a:pPr>
                      <a:r>
                        <a:rPr lang="fr-FR" sz="1800"/>
                        <a:t>Feature</a:t>
                      </a:r>
                    </a:p>
                  </a:txBody>
                  <a:tcPr marL="89656" marR="89656" marT="44828" marB="44828" anchor="ctr"/>
                </a:tc>
                <a:tc>
                  <a:txBody>
                    <a:bodyPr/>
                    <a:lstStyle/>
                    <a:p>
                      <a:pPr>
                        <a:buNone/>
                      </a:pPr>
                      <a:r>
                        <a:rPr lang="fr-FR" sz="1800" dirty="0"/>
                        <a:t>IQR </a:t>
                      </a:r>
                      <a:r>
                        <a:rPr lang="fr-FR" sz="1800" dirty="0" err="1"/>
                        <a:t>Outliers</a:t>
                      </a:r>
                      <a:endParaRPr lang="fr-FR" sz="1800" dirty="0"/>
                    </a:p>
                  </a:txBody>
                  <a:tcPr marL="89656" marR="89656" marT="44828" marB="44828" anchor="ctr"/>
                </a:tc>
                <a:tc>
                  <a:txBody>
                    <a:bodyPr/>
                    <a:lstStyle/>
                    <a:p>
                      <a:pPr>
                        <a:buNone/>
                      </a:pPr>
                      <a:r>
                        <a:rPr lang="fr-FR" sz="1800"/>
                        <a:t>Z-score</a:t>
                      </a:r>
                    </a:p>
                  </a:txBody>
                  <a:tcPr marL="89656" marR="89656" marT="44828" marB="44828" anchor="ctr"/>
                </a:tc>
                <a:tc>
                  <a:txBody>
                    <a:bodyPr/>
                    <a:lstStyle/>
                    <a:p>
                      <a:pPr>
                        <a:buNone/>
                      </a:pPr>
                      <a:r>
                        <a:rPr lang="fr-FR" sz="1800"/>
                        <a:t>Note</a:t>
                      </a:r>
                    </a:p>
                  </a:txBody>
                  <a:tcPr marL="89656" marR="89656" marT="44828" marB="44828" anchor="ctr"/>
                </a:tc>
                <a:extLst>
                  <a:ext uri="{0D108BD9-81ED-4DB2-BD59-A6C34878D82A}">
                    <a16:rowId xmlns:a16="http://schemas.microsoft.com/office/drawing/2014/main" val="3150651663"/>
                  </a:ext>
                </a:extLst>
              </a:tr>
              <a:tr h="627592">
                <a:tc>
                  <a:txBody>
                    <a:bodyPr/>
                    <a:lstStyle/>
                    <a:p>
                      <a:pPr>
                        <a:buNone/>
                      </a:pPr>
                      <a:r>
                        <a:rPr lang="fr-FR" sz="1800"/>
                        <a:t>visibility km/miles</a:t>
                      </a:r>
                    </a:p>
                  </a:txBody>
                  <a:tcPr marL="89656" marR="89656" marT="44828" marB="44828" anchor="ctr"/>
                </a:tc>
                <a:tc>
                  <a:txBody>
                    <a:bodyPr/>
                    <a:lstStyle/>
                    <a:p>
                      <a:pPr>
                        <a:buNone/>
                      </a:pPr>
                      <a:r>
                        <a:rPr lang="fr-FR" sz="1800"/>
                        <a:t>~21%</a:t>
                      </a:r>
                    </a:p>
                  </a:txBody>
                  <a:tcPr marL="89656" marR="89656" marT="44828" marB="44828" anchor="ctr"/>
                </a:tc>
                <a:tc>
                  <a:txBody>
                    <a:bodyPr/>
                    <a:lstStyle/>
                    <a:p>
                      <a:pPr>
                        <a:buNone/>
                      </a:pPr>
                      <a:r>
                        <a:rPr lang="fr-FR" sz="1800"/>
                        <a:t>3.0%</a:t>
                      </a:r>
                    </a:p>
                  </a:txBody>
                  <a:tcPr marL="89656" marR="89656" marT="44828" marB="44828" anchor="ctr"/>
                </a:tc>
                <a:tc>
                  <a:txBody>
                    <a:bodyPr/>
                    <a:lstStyle/>
                    <a:p>
                      <a:pPr>
                        <a:buNone/>
                      </a:pPr>
                      <a:r>
                        <a:rPr lang="fr-FR" sz="1800"/>
                        <a:t>Genuine weather variability</a:t>
                      </a:r>
                    </a:p>
                  </a:txBody>
                  <a:tcPr marL="89656" marR="89656" marT="44828" marB="44828" anchor="ctr"/>
                </a:tc>
                <a:extLst>
                  <a:ext uri="{0D108BD9-81ED-4DB2-BD59-A6C34878D82A}">
                    <a16:rowId xmlns:a16="http://schemas.microsoft.com/office/drawing/2014/main" val="1313638727"/>
                  </a:ext>
                </a:extLst>
              </a:tr>
              <a:tr h="627592">
                <a:tc>
                  <a:txBody>
                    <a:bodyPr/>
                    <a:lstStyle/>
                    <a:p>
                      <a:pPr>
                        <a:buNone/>
                      </a:pPr>
                      <a:r>
                        <a:rPr lang="fr-FR" sz="1800"/>
                        <a:t>precip mm/in</a:t>
                      </a:r>
                    </a:p>
                  </a:txBody>
                  <a:tcPr marL="89656" marR="89656" marT="44828" marB="44828" anchor="ctr"/>
                </a:tc>
                <a:tc>
                  <a:txBody>
                    <a:bodyPr/>
                    <a:lstStyle/>
                    <a:p>
                      <a:pPr>
                        <a:buNone/>
                      </a:pPr>
                      <a:r>
                        <a:rPr lang="fr-FR" sz="1800"/>
                        <a:t>~18%</a:t>
                      </a:r>
                    </a:p>
                  </a:txBody>
                  <a:tcPr marL="89656" marR="89656" marT="44828" marB="44828" anchor="ctr"/>
                </a:tc>
                <a:tc>
                  <a:txBody>
                    <a:bodyPr/>
                    <a:lstStyle/>
                    <a:p>
                      <a:pPr>
                        <a:buNone/>
                      </a:pPr>
                      <a:r>
                        <a:rPr lang="fr-FR" sz="1800"/>
                        <a:t>1.4%</a:t>
                      </a:r>
                    </a:p>
                  </a:txBody>
                  <a:tcPr marL="89656" marR="89656" marT="44828" marB="44828" anchor="ctr"/>
                </a:tc>
                <a:tc>
                  <a:txBody>
                    <a:bodyPr/>
                    <a:lstStyle/>
                    <a:p>
                      <a:pPr>
                        <a:buNone/>
                      </a:pPr>
                      <a:r>
                        <a:rPr lang="fr-FR" sz="1800"/>
                        <a:t>Right-skewed, median is 0</a:t>
                      </a:r>
                    </a:p>
                  </a:txBody>
                  <a:tcPr marL="89656" marR="89656" marT="44828" marB="44828" anchor="ctr"/>
                </a:tc>
                <a:extLst>
                  <a:ext uri="{0D108BD9-81ED-4DB2-BD59-A6C34878D82A}">
                    <a16:rowId xmlns:a16="http://schemas.microsoft.com/office/drawing/2014/main" val="3512279164"/>
                  </a:ext>
                </a:extLst>
              </a:tr>
              <a:tr h="627592">
                <a:tc>
                  <a:txBody>
                    <a:bodyPr/>
                    <a:lstStyle/>
                    <a:p>
                      <a:pPr>
                        <a:buNone/>
                      </a:pPr>
                      <a:r>
                        <a:rPr lang="fr-FR" sz="1800"/>
                        <a:t>Air quality CO, SO₂</a:t>
                      </a:r>
                    </a:p>
                  </a:txBody>
                  <a:tcPr marL="89656" marR="89656" marT="44828" marB="44828" anchor="ctr"/>
                </a:tc>
                <a:tc>
                  <a:txBody>
                    <a:bodyPr/>
                    <a:lstStyle/>
                    <a:p>
                      <a:pPr>
                        <a:buNone/>
                      </a:pPr>
                      <a:r>
                        <a:rPr lang="fr-FR" sz="1800"/>
                        <a:t>~9%</a:t>
                      </a:r>
                    </a:p>
                  </a:txBody>
                  <a:tcPr marL="89656" marR="89656" marT="44828" marB="44828" anchor="ctr"/>
                </a:tc>
                <a:tc>
                  <a:txBody>
                    <a:bodyPr/>
                    <a:lstStyle/>
                    <a:p>
                      <a:pPr>
                        <a:buNone/>
                      </a:pPr>
                      <a:r>
                        <a:rPr lang="fr-FR" sz="1800"/>
                        <a:t>~1%</a:t>
                      </a:r>
                    </a:p>
                  </a:txBody>
                  <a:tcPr marL="89656" marR="89656" marT="44828" marB="44828" anchor="ctr"/>
                </a:tc>
                <a:tc>
                  <a:txBody>
                    <a:bodyPr/>
                    <a:lstStyle/>
                    <a:p>
                      <a:pPr>
                        <a:buNone/>
                      </a:pPr>
                      <a:r>
                        <a:rPr lang="fr-FR" sz="1800"/>
                        <a:t>-9999 = sensor failure</a:t>
                      </a:r>
                    </a:p>
                  </a:txBody>
                  <a:tcPr marL="89656" marR="89656" marT="44828" marB="44828" anchor="ctr"/>
                </a:tc>
                <a:extLst>
                  <a:ext uri="{0D108BD9-81ED-4DB2-BD59-A6C34878D82A}">
                    <a16:rowId xmlns:a16="http://schemas.microsoft.com/office/drawing/2014/main" val="4280852274"/>
                  </a:ext>
                </a:extLst>
              </a:tr>
              <a:tr h="896559">
                <a:tc>
                  <a:txBody>
                    <a:bodyPr/>
                    <a:lstStyle/>
                    <a:p>
                      <a:pPr>
                        <a:buNone/>
                      </a:pPr>
                      <a:r>
                        <a:rPr lang="fr-FR" sz="1800"/>
                        <a:t>gust mph/kph</a:t>
                      </a:r>
                    </a:p>
                  </a:txBody>
                  <a:tcPr marL="89656" marR="89656" marT="44828" marB="44828" anchor="ctr"/>
                </a:tc>
                <a:tc>
                  <a:txBody>
                    <a:bodyPr/>
                    <a:lstStyle/>
                    <a:p>
                      <a:pPr>
                        <a:buNone/>
                      </a:pPr>
                      <a:r>
                        <a:rPr lang="fr-FR" sz="1800"/>
                        <a:t>~2.7%</a:t>
                      </a:r>
                    </a:p>
                  </a:txBody>
                  <a:tcPr marL="89656" marR="89656" marT="44828" marB="44828" anchor="ctr"/>
                </a:tc>
                <a:tc>
                  <a:txBody>
                    <a:bodyPr/>
                    <a:lstStyle/>
                    <a:p>
                      <a:pPr>
                        <a:buNone/>
                      </a:pPr>
                      <a:r>
                        <a:rPr lang="fr-FR" sz="1800"/>
                        <a:t>0.4%</a:t>
                      </a:r>
                    </a:p>
                  </a:txBody>
                  <a:tcPr marL="89656" marR="89656" marT="44828" marB="44828" anchor="ctr"/>
                </a:tc>
                <a:tc>
                  <a:txBody>
                    <a:bodyPr/>
                    <a:lstStyle/>
                    <a:p>
                      <a:pPr>
                        <a:buNone/>
                      </a:pPr>
                      <a:r>
                        <a:rPr lang="fr-FR" sz="1800"/>
                        <a:t>~1800+ mph physically impossible</a:t>
                      </a:r>
                    </a:p>
                  </a:txBody>
                  <a:tcPr marL="89656" marR="89656" marT="44828" marB="44828" anchor="ctr"/>
                </a:tc>
                <a:extLst>
                  <a:ext uri="{0D108BD9-81ED-4DB2-BD59-A6C34878D82A}">
                    <a16:rowId xmlns:a16="http://schemas.microsoft.com/office/drawing/2014/main" val="3061688884"/>
                  </a:ext>
                </a:extLst>
              </a:tr>
              <a:tr h="627592">
                <a:tc>
                  <a:txBody>
                    <a:bodyPr/>
                    <a:lstStyle/>
                    <a:p>
                      <a:pPr>
                        <a:buNone/>
                      </a:pPr>
                      <a:r>
                        <a:rPr lang="fr-FR" sz="1800"/>
                        <a:t>humidity, cloud, latitude</a:t>
                      </a:r>
                    </a:p>
                  </a:txBody>
                  <a:tcPr marL="89656" marR="89656" marT="44828" marB="44828" anchor="ctr"/>
                </a:tc>
                <a:tc>
                  <a:txBody>
                    <a:bodyPr/>
                    <a:lstStyle/>
                    <a:p>
                      <a:pPr>
                        <a:buNone/>
                      </a:pPr>
                      <a:r>
                        <a:rPr lang="fr-FR" sz="1800"/>
                        <a:t>0%</a:t>
                      </a:r>
                    </a:p>
                  </a:txBody>
                  <a:tcPr marL="89656" marR="89656" marT="44828" marB="44828" anchor="ctr"/>
                </a:tc>
                <a:tc>
                  <a:txBody>
                    <a:bodyPr/>
                    <a:lstStyle/>
                    <a:p>
                      <a:pPr>
                        <a:buNone/>
                      </a:pPr>
                      <a:r>
                        <a:rPr lang="fr-FR" sz="1800" dirty="0"/>
                        <a:t>0%</a:t>
                      </a:r>
                    </a:p>
                  </a:txBody>
                  <a:tcPr marL="89656" marR="89656" marT="44828" marB="44828" anchor="ctr"/>
                </a:tc>
                <a:tc>
                  <a:txBody>
                    <a:bodyPr/>
                    <a:lstStyle/>
                    <a:p>
                      <a:pPr>
                        <a:buNone/>
                      </a:pPr>
                      <a:r>
                        <a:rPr lang="fr-FR" sz="1800" dirty="0" err="1"/>
                        <a:t>Bounded</a:t>
                      </a:r>
                      <a:r>
                        <a:rPr lang="fr-FR" sz="1800" dirty="0"/>
                        <a:t> variables</a:t>
                      </a:r>
                    </a:p>
                  </a:txBody>
                  <a:tcPr marL="89656" marR="89656" marT="44828" marB="44828" anchor="ctr"/>
                </a:tc>
                <a:extLst>
                  <a:ext uri="{0D108BD9-81ED-4DB2-BD59-A6C34878D82A}">
                    <a16:rowId xmlns:a16="http://schemas.microsoft.com/office/drawing/2014/main" val="3409734348"/>
                  </a:ext>
                </a:extLst>
              </a:tr>
            </a:tbl>
          </a:graphicData>
        </a:graphic>
      </p:graphicFrame>
      <p:sp>
        <p:nvSpPr>
          <p:cNvPr id="12" name="Slide Number Placeholder 11">
            <a:extLst>
              <a:ext uri="{FF2B5EF4-FFF2-40B4-BE49-F238E27FC236}">
                <a16:creationId xmlns:a16="http://schemas.microsoft.com/office/drawing/2014/main" id="{B23F3AC6-87B7-A87F-56D8-F7239D549FED}"/>
              </a:ext>
            </a:extLst>
          </p:cNvPr>
          <p:cNvSpPr>
            <a:spLocks noGrp="1"/>
          </p:cNvSpPr>
          <p:nvPr>
            <p:ph type="sldNum" sz="quarter" idx="12"/>
          </p:nvPr>
        </p:nvSpPr>
        <p:spPr/>
        <p:txBody>
          <a:bodyPr/>
          <a:lstStyle/>
          <a:p>
            <a:fld id="{C1FF6DA9-008F-8B48-92A6-B652298478BF}" type="slidenum">
              <a:rPr lang="en-US" smtClean="0"/>
              <a:t>6</a:t>
            </a:fld>
            <a:endParaRPr lang="en-US"/>
          </a:p>
        </p:txBody>
      </p:sp>
    </p:spTree>
    <p:extLst>
      <p:ext uri="{BB962C8B-B14F-4D97-AF65-F5344CB8AC3E}">
        <p14:creationId xmlns:p14="http://schemas.microsoft.com/office/powerpoint/2010/main" val="1733289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544DE-2021-1F47-EF16-CAE07C29E5BE}"/>
              </a:ext>
            </a:extLst>
          </p:cNvPr>
          <p:cNvSpPr>
            <a:spLocks noGrp="1"/>
          </p:cNvSpPr>
          <p:nvPr>
            <p:ph type="title"/>
          </p:nvPr>
        </p:nvSpPr>
        <p:spPr>
          <a:xfrm>
            <a:off x="492919" y="499533"/>
            <a:ext cx="8079581" cy="896648"/>
          </a:xfrm>
        </p:spPr>
        <p:txBody>
          <a:bodyPr/>
          <a:lstStyle/>
          <a:p>
            <a:r>
              <a:rPr lang="en-US" dirty="0">
                <a:solidFill>
                  <a:srgbClr val="FF4A00"/>
                </a:solidFill>
              </a:rPr>
              <a:t>Feature Engineering</a:t>
            </a:r>
            <a:endParaRPr lang="fr-FR" dirty="0">
              <a:solidFill>
                <a:srgbClr val="FF4A00"/>
              </a:solidFill>
            </a:endParaRPr>
          </a:p>
        </p:txBody>
      </p:sp>
      <p:sp>
        <p:nvSpPr>
          <p:cNvPr id="3" name="Content Placeholder 2">
            <a:extLst>
              <a:ext uri="{FF2B5EF4-FFF2-40B4-BE49-F238E27FC236}">
                <a16:creationId xmlns:a16="http://schemas.microsoft.com/office/drawing/2014/main" id="{93B169E3-E9A9-1680-D40B-F070C44B0BA6}"/>
              </a:ext>
            </a:extLst>
          </p:cNvPr>
          <p:cNvSpPr>
            <a:spLocks noGrp="1"/>
          </p:cNvSpPr>
          <p:nvPr>
            <p:ph idx="1"/>
          </p:nvPr>
        </p:nvSpPr>
        <p:spPr>
          <a:xfrm>
            <a:off x="539353" y="1545907"/>
            <a:ext cx="8065294" cy="3766185"/>
          </a:xfrm>
        </p:spPr>
        <p:txBody>
          <a:bodyPr/>
          <a:lstStyle/>
          <a:p>
            <a:pPr>
              <a:buFont typeface="Arial" panose="020B0604020202020204" pitchFamily="34" charset="0"/>
              <a:buChar char="•"/>
            </a:pPr>
            <a:r>
              <a:rPr lang="en-US" dirty="0"/>
              <a:t> Parsed timestamp into year, month, day, weekday, hour</a:t>
            </a:r>
          </a:p>
          <a:p>
            <a:pPr>
              <a:buFont typeface="Arial" panose="020B0604020202020204" pitchFamily="34" charset="0"/>
              <a:buChar char="•"/>
            </a:pPr>
            <a:r>
              <a:rPr lang="en-US" dirty="0"/>
              <a:t> Cyclical sin/cos encoding for hour and month</a:t>
            </a:r>
          </a:p>
          <a:p>
            <a:pPr>
              <a:buFont typeface="Arial" panose="020B0604020202020204" pitchFamily="34" charset="0"/>
              <a:buChar char="•"/>
            </a:pPr>
            <a:r>
              <a:rPr lang="en-US" dirty="0"/>
              <a:t> Sunrise/sunset/moonrise/moonset converted to hour-of-day integers</a:t>
            </a:r>
          </a:p>
          <a:p>
            <a:pPr>
              <a:buFont typeface="Arial" panose="020B0604020202020204" pitchFamily="34" charset="0"/>
              <a:buChar char="•"/>
            </a:pPr>
            <a:r>
              <a:rPr lang="en-US" dirty="0"/>
              <a:t> All features </a:t>
            </a:r>
            <a:r>
              <a:rPr lang="en-US" dirty="0" err="1"/>
              <a:t>MinMax</a:t>
            </a:r>
            <a:r>
              <a:rPr lang="en-US" dirty="0"/>
              <a:t>-scaled to [0, 1]</a:t>
            </a:r>
            <a:endParaRPr lang="fr-FR" dirty="0"/>
          </a:p>
        </p:txBody>
      </p:sp>
      <p:pic>
        <p:nvPicPr>
          <p:cNvPr id="5" name="Picture 4">
            <a:extLst>
              <a:ext uri="{FF2B5EF4-FFF2-40B4-BE49-F238E27FC236}">
                <a16:creationId xmlns:a16="http://schemas.microsoft.com/office/drawing/2014/main" id="{B047E8E5-2199-9715-1787-20EA954C25C3}"/>
              </a:ext>
            </a:extLst>
          </p:cNvPr>
          <p:cNvPicPr>
            <a:picLocks noChangeAspect="1"/>
          </p:cNvPicPr>
          <p:nvPr/>
        </p:nvPicPr>
        <p:blipFill>
          <a:blip r:embed="rId2"/>
          <a:stretch>
            <a:fillRect/>
          </a:stretch>
        </p:blipFill>
        <p:spPr>
          <a:xfrm>
            <a:off x="1071635" y="3986135"/>
            <a:ext cx="6922147" cy="2484335"/>
          </a:xfrm>
          <a:prstGeom prst="rect">
            <a:avLst/>
          </a:prstGeom>
        </p:spPr>
      </p:pic>
      <p:sp>
        <p:nvSpPr>
          <p:cNvPr id="7" name="Slide Number Placeholder 6">
            <a:extLst>
              <a:ext uri="{FF2B5EF4-FFF2-40B4-BE49-F238E27FC236}">
                <a16:creationId xmlns:a16="http://schemas.microsoft.com/office/drawing/2014/main" id="{D21EED3E-B256-F556-8E24-6DC2624D9F9B}"/>
              </a:ext>
            </a:extLst>
          </p:cNvPr>
          <p:cNvSpPr>
            <a:spLocks noGrp="1"/>
          </p:cNvSpPr>
          <p:nvPr>
            <p:ph type="sldNum" sz="quarter" idx="12"/>
          </p:nvPr>
        </p:nvSpPr>
        <p:spPr/>
        <p:txBody>
          <a:bodyPr/>
          <a:lstStyle/>
          <a:p>
            <a:fld id="{C1FF6DA9-008F-8B48-92A6-B652298478BF}" type="slidenum">
              <a:rPr lang="en-US" smtClean="0"/>
              <a:t>7</a:t>
            </a:fld>
            <a:endParaRPr lang="en-US"/>
          </a:p>
        </p:txBody>
      </p:sp>
    </p:spTree>
    <p:extLst>
      <p:ext uri="{BB962C8B-B14F-4D97-AF65-F5344CB8AC3E}">
        <p14:creationId xmlns:p14="http://schemas.microsoft.com/office/powerpoint/2010/main" val="3110124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64B6-B48D-B241-50D7-C111585304B2}"/>
              </a:ext>
            </a:extLst>
          </p:cNvPr>
          <p:cNvSpPr>
            <a:spLocks noGrp="1"/>
          </p:cNvSpPr>
          <p:nvPr>
            <p:ph type="title"/>
          </p:nvPr>
        </p:nvSpPr>
        <p:spPr>
          <a:xfrm>
            <a:off x="492919" y="499533"/>
            <a:ext cx="8079581" cy="847486"/>
          </a:xfrm>
        </p:spPr>
        <p:txBody>
          <a:bodyPr/>
          <a:lstStyle/>
          <a:p>
            <a:r>
              <a:rPr lang="en-US" dirty="0">
                <a:solidFill>
                  <a:srgbClr val="FF4A00"/>
                </a:solidFill>
              </a:rPr>
              <a:t>Correlation Analysis</a:t>
            </a:r>
            <a:endParaRPr lang="fr-FR" dirty="0">
              <a:solidFill>
                <a:srgbClr val="FF4A00"/>
              </a:solidFill>
            </a:endParaRPr>
          </a:p>
        </p:txBody>
      </p:sp>
      <p:pic>
        <p:nvPicPr>
          <p:cNvPr id="5" name="Content Placeholder 4">
            <a:extLst>
              <a:ext uri="{FF2B5EF4-FFF2-40B4-BE49-F238E27FC236}">
                <a16:creationId xmlns:a16="http://schemas.microsoft.com/office/drawing/2014/main" id="{F6524CC5-7CE8-E527-2014-CC8ADB582A8A}"/>
              </a:ext>
            </a:extLst>
          </p:cNvPr>
          <p:cNvPicPr>
            <a:picLocks noGrp="1" noChangeAspect="1"/>
          </p:cNvPicPr>
          <p:nvPr>
            <p:ph idx="1"/>
          </p:nvPr>
        </p:nvPicPr>
        <p:blipFill>
          <a:blip r:embed="rId2"/>
          <a:srcRect l="3400"/>
          <a:stretch>
            <a:fillRect/>
          </a:stretch>
        </p:blipFill>
        <p:spPr>
          <a:xfrm>
            <a:off x="-1" y="1435509"/>
            <a:ext cx="6213987" cy="4710124"/>
          </a:xfrm>
          <a:prstGeom prst="rect">
            <a:avLst/>
          </a:prstGeom>
        </p:spPr>
      </p:pic>
      <p:sp>
        <p:nvSpPr>
          <p:cNvPr id="7" name="TextBox 6">
            <a:extLst>
              <a:ext uri="{FF2B5EF4-FFF2-40B4-BE49-F238E27FC236}">
                <a16:creationId xmlns:a16="http://schemas.microsoft.com/office/drawing/2014/main" id="{4B91D0CB-4171-146B-4651-3BD347C14469}"/>
              </a:ext>
            </a:extLst>
          </p:cNvPr>
          <p:cNvSpPr txBox="1"/>
          <p:nvPr/>
        </p:nvSpPr>
        <p:spPr>
          <a:xfrm>
            <a:off x="6292644" y="2095688"/>
            <a:ext cx="2561304" cy="2585323"/>
          </a:xfrm>
          <a:prstGeom prst="rect">
            <a:avLst/>
          </a:prstGeom>
          <a:noFill/>
        </p:spPr>
        <p:txBody>
          <a:bodyPr wrap="square">
            <a:spAutoFit/>
          </a:bodyPr>
          <a:lstStyle/>
          <a:p>
            <a:r>
              <a:rPr lang="en-US" sz="1800" dirty="0"/>
              <a:t>• </a:t>
            </a:r>
            <a:r>
              <a:rPr lang="fr-FR" dirty="0"/>
              <a:t>Unit-duplicate pairs are </a:t>
            </a:r>
            <a:r>
              <a:rPr lang="fr-FR" dirty="0" err="1"/>
              <a:t>perfectly</a:t>
            </a:r>
            <a:r>
              <a:rPr lang="fr-FR" dirty="0"/>
              <a:t> </a:t>
            </a:r>
            <a:r>
              <a:rPr lang="fr-FR" dirty="0" err="1"/>
              <a:t>collinear</a:t>
            </a:r>
            <a:endParaRPr lang="fr-FR" dirty="0"/>
          </a:p>
          <a:p>
            <a:endParaRPr lang="en-US" sz="1800" dirty="0"/>
          </a:p>
          <a:p>
            <a:r>
              <a:rPr lang="en-US" sz="1800" dirty="0"/>
              <a:t>•Air quality features cluster together internally</a:t>
            </a:r>
          </a:p>
          <a:p>
            <a:endParaRPr lang="en-US" sz="1800" dirty="0"/>
          </a:p>
          <a:p>
            <a:r>
              <a:rPr lang="en-US" sz="1800" dirty="0"/>
              <a:t>•Meteorological and air quality signals largely independent</a:t>
            </a:r>
          </a:p>
        </p:txBody>
      </p:sp>
      <p:sp>
        <p:nvSpPr>
          <p:cNvPr id="11" name="Slide Number Placeholder 10">
            <a:extLst>
              <a:ext uri="{FF2B5EF4-FFF2-40B4-BE49-F238E27FC236}">
                <a16:creationId xmlns:a16="http://schemas.microsoft.com/office/drawing/2014/main" id="{BB899E8D-3CD9-BD7C-76FF-750D5125286B}"/>
              </a:ext>
            </a:extLst>
          </p:cNvPr>
          <p:cNvSpPr>
            <a:spLocks noGrp="1"/>
          </p:cNvSpPr>
          <p:nvPr>
            <p:ph type="sldNum" sz="quarter" idx="12"/>
          </p:nvPr>
        </p:nvSpPr>
        <p:spPr/>
        <p:txBody>
          <a:bodyPr/>
          <a:lstStyle/>
          <a:p>
            <a:fld id="{C1FF6DA9-008F-8B48-92A6-B652298478BF}" type="slidenum">
              <a:rPr lang="en-US" smtClean="0"/>
              <a:t>8</a:t>
            </a:fld>
            <a:endParaRPr lang="en-US"/>
          </a:p>
        </p:txBody>
      </p:sp>
    </p:spTree>
    <p:extLst>
      <p:ext uri="{BB962C8B-B14F-4D97-AF65-F5344CB8AC3E}">
        <p14:creationId xmlns:p14="http://schemas.microsoft.com/office/powerpoint/2010/main" val="3707505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A84C5-C872-04F4-74A3-8FF4649968F7}"/>
              </a:ext>
            </a:extLst>
          </p:cNvPr>
          <p:cNvSpPr>
            <a:spLocks noGrp="1"/>
          </p:cNvSpPr>
          <p:nvPr>
            <p:ph type="title"/>
          </p:nvPr>
        </p:nvSpPr>
        <p:spPr>
          <a:xfrm>
            <a:off x="492919" y="237369"/>
            <a:ext cx="8079581" cy="1002347"/>
          </a:xfrm>
        </p:spPr>
        <p:txBody>
          <a:bodyPr/>
          <a:lstStyle/>
          <a:p>
            <a:r>
              <a:rPr lang="en-US" dirty="0">
                <a:solidFill>
                  <a:srgbClr val="FF0000"/>
                </a:solidFill>
              </a:rPr>
              <a:t>Plots</a:t>
            </a:r>
          </a:p>
        </p:txBody>
      </p:sp>
      <p:pic>
        <p:nvPicPr>
          <p:cNvPr id="7" name="Content Placeholder 6">
            <a:extLst>
              <a:ext uri="{FF2B5EF4-FFF2-40B4-BE49-F238E27FC236}">
                <a16:creationId xmlns:a16="http://schemas.microsoft.com/office/drawing/2014/main" id="{D277AAFC-F632-E8A3-9D4F-143DDCEB40F5}"/>
              </a:ext>
            </a:extLst>
          </p:cNvPr>
          <p:cNvPicPr>
            <a:picLocks noGrp="1" noChangeAspect="1"/>
          </p:cNvPicPr>
          <p:nvPr>
            <p:ph idx="1"/>
          </p:nvPr>
        </p:nvPicPr>
        <p:blipFill>
          <a:blip r:embed="rId2"/>
          <a:stretch>
            <a:fillRect/>
          </a:stretch>
        </p:blipFill>
        <p:spPr>
          <a:xfrm>
            <a:off x="571500" y="1239716"/>
            <a:ext cx="7795936" cy="2232853"/>
          </a:xfrm>
          <a:prstGeom prst="rect">
            <a:avLst/>
          </a:prstGeom>
        </p:spPr>
      </p:pic>
      <p:pic>
        <p:nvPicPr>
          <p:cNvPr id="9" name="Picture 8">
            <a:extLst>
              <a:ext uri="{FF2B5EF4-FFF2-40B4-BE49-F238E27FC236}">
                <a16:creationId xmlns:a16="http://schemas.microsoft.com/office/drawing/2014/main" id="{FAB94617-0C73-1F50-DEAD-98A6F9EE31AB}"/>
              </a:ext>
            </a:extLst>
          </p:cNvPr>
          <p:cNvPicPr>
            <a:picLocks noChangeAspect="1"/>
          </p:cNvPicPr>
          <p:nvPr/>
        </p:nvPicPr>
        <p:blipFill>
          <a:blip r:embed="rId3"/>
          <a:stretch>
            <a:fillRect/>
          </a:stretch>
        </p:blipFill>
        <p:spPr>
          <a:xfrm>
            <a:off x="761670" y="3687252"/>
            <a:ext cx="7620660" cy="2890376"/>
          </a:xfrm>
          <a:prstGeom prst="rect">
            <a:avLst/>
          </a:prstGeom>
        </p:spPr>
      </p:pic>
      <p:sp>
        <p:nvSpPr>
          <p:cNvPr id="11" name="Slide Number Placeholder 10">
            <a:extLst>
              <a:ext uri="{FF2B5EF4-FFF2-40B4-BE49-F238E27FC236}">
                <a16:creationId xmlns:a16="http://schemas.microsoft.com/office/drawing/2014/main" id="{F2B6B56B-1669-FD97-D3A0-7EE6F470165E}"/>
              </a:ext>
            </a:extLst>
          </p:cNvPr>
          <p:cNvSpPr>
            <a:spLocks noGrp="1"/>
          </p:cNvSpPr>
          <p:nvPr>
            <p:ph type="sldNum" sz="quarter" idx="12"/>
          </p:nvPr>
        </p:nvSpPr>
        <p:spPr/>
        <p:txBody>
          <a:bodyPr/>
          <a:lstStyle/>
          <a:p>
            <a:fld id="{C1FF6DA9-008F-8B48-92A6-B652298478BF}" type="slidenum">
              <a:rPr lang="en-US" smtClean="0"/>
              <a:t>9</a:t>
            </a:fld>
            <a:endParaRPr lang="en-US"/>
          </a:p>
        </p:txBody>
      </p:sp>
    </p:spTree>
    <p:extLst>
      <p:ext uri="{BB962C8B-B14F-4D97-AF65-F5344CB8AC3E}">
        <p14:creationId xmlns:p14="http://schemas.microsoft.com/office/powerpoint/2010/main" val="2822918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EC347B-126A-07B2-A9D6-CFE6D3E7CC60}"/>
              </a:ext>
            </a:extLst>
          </p:cNvPr>
          <p:cNvPicPr>
            <a:picLocks noChangeAspect="1"/>
          </p:cNvPicPr>
          <p:nvPr/>
        </p:nvPicPr>
        <p:blipFill>
          <a:blip r:embed="rId2"/>
          <a:stretch>
            <a:fillRect/>
          </a:stretch>
        </p:blipFill>
        <p:spPr>
          <a:xfrm>
            <a:off x="838540" y="514282"/>
            <a:ext cx="7466920" cy="2554923"/>
          </a:xfrm>
          <a:prstGeom prst="rect">
            <a:avLst/>
          </a:prstGeom>
        </p:spPr>
      </p:pic>
      <p:pic>
        <p:nvPicPr>
          <p:cNvPr id="7" name="Picture 6">
            <a:extLst>
              <a:ext uri="{FF2B5EF4-FFF2-40B4-BE49-F238E27FC236}">
                <a16:creationId xmlns:a16="http://schemas.microsoft.com/office/drawing/2014/main" id="{893BD1DD-64D0-68C0-F83A-6E10D542E2B2}"/>
              </a:ext>
            </a:extLst>
          </p:cNvPr>
          <p:cNvPicPr>
            <a:picLocks noChangeAspect="1"/>
          </p:cNvPicPr>
          <p:nvPr/>
        </p:nvPicPr>
        <p:blipFill>
          <a:blip r:embed="rId3"/>
          <a:stretch>
            <a:fillRect/>
          </a:stretch>
        </p:blipFill>
        <p:spPr>
          <a:xfrm>
            <a:off x="1023954" y="3204006"/>
            <a:ext cx="7096092" cy="3334446"/>
          </a:xfrm>
          <a:prstGeom prst="rect">
            <a:avLst/>
          </a:prstGeom>
        </p:spPr>
      </p:pic>
      <p:sp>
        <p:nvSpPr>
          <p:cNvPr id="9" name="Slide Number Placeholder 8">
            <a:extLst>
              <a:ext uri="{FF2B5EF4-FFF2-40B4-BE49-F238E27FC236}">
                <a16:creationId xmlns:a16="http://schemas.microsoft.com/office/drawing/2014/main" id="{6848CD3C-14CB-FF96-F90A-B72CC6D94831}"/>
              </a:ext>
            </a:extLst>
          </p:cNvPr>
          <p:cNvSpPr>
            <a:spLocks noGrp="1"/>
          </p:cNvSpPr>
          <p:nvPr>
            <p:ph type="sldNum" sz="quarter" idx="12"/>
          </p:nvPr>
        </p:nvSpPr>
        <p:spPr/>
        <p:txBody>
          <a:bodyPr/>
          <a:lstStyle/>
          <a:p>
            <a:fld id="{C1FF6DA9-008F-8B48-92A6-B652298478BF}" type="slidenum">
              <a:rPr lang="en-US" smtClean="0"/>
              <a:t>10</a:t>
            </a:fld>
            <a:endParaRPr lang="en-US"/>
          </a:p>
        </p:txBody>
      </p:sp>
    </p:spTree>
    <p:extLst>
      <p:ext uri="{BB962C8B-B14F-4D97-AF65-F5344CB8AC3E}">
        <p14:creationId xmlns:p14="http://schemas.microsoft.com/office/powerpoint/2010/main" val="2805419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C4D56206-6554-1A89-D80B-7C94449989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2956" y="137063"/>
            <a:ext cx="8416412" cy="658387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C5685300-9918-719E-C6E3-4B8E2C0B8D62}"/>
              </a:ext>
            </a:extLst>
          </p:cNvPr>
          <p:cNvSpPr>
            <a:spLocks noGrp="1"/>
          </p:cNvSpPr>
          <p:nvPr>
            <p:ph type="sldNum" sz="quarter" idx="12"/>
          </p:nvPr>
        </p:nvSpPr>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2993803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B27FC-064E-6563-F8AF-D95F783C0BC4}"/>
              </a:ext>
            </a:extLst>
          </p:cNvPr>
          <p:cNvSpPr>
            <a:spLocks noGrp="1"/>
          </p:cNvSpPr>
          <p:nvPr>
            <p:ph type="title"/>
          </p:nvPr>
        </p:nvSpPr>
        <p:spPr>
          <a:xfrm>
            <a:off x="492919" y="499533"/>
            <a:ext cx="8079581" cy="994970"/>
          </a:xfrm>
        </p:spPr>
        <p:txBody>
          <a:bodyPr/>
          <a:lstStyle/>
          <a:p>
            <a:r>
              <a:rPr lang="fr-FR" dirty="0" err="1">
                <a:solidFill>
                  <a:srgbClr val="FF4A00"/>
                </a:solidFill>
              </a:rPr>
              <a:t>Forecasting</a:t>
            </a:r>
            <a:r>
              <a:rPr lang="fr-FR" dirty="0">
                <a:solidFill>
                  <a:srgbClr val="FF4A00"/>
                </a:solidFill>
              </a:rPr>
              <a:t> </a:t>
            </a:r>
            <a:r>
              <a:rPr lang="fr-FR" dirty="0" err="1">
                <a:solidFill>
                  <a:srgbClr val="FF4A00"/>
                </a:solidFill>
              </a:rPr>
              <a:t>Models</a:t>
            </a:r>
            <a:r>
              <a:rPr lang="fr-FR" dirty="0">
                <a:solidFill>
                  <a:srgbClr val="FF4A00"/>
                </a:solidFill>
              </a:rPr>
              <a:t> </a:t>
            </a:r>
          </a:p>
        </p:txBody>
      </p:sp>
      <p:sp>
        <p:nvSpPr>
          <p:cNvPr id="3" name="Content Placeholder 2">
            <a:extLst>
              <a:ext uri="{FF2B5EF4-FFF2-40B4-BE49-F238E27FC236}">
                <a16:creationId xmlns:a16="http://schemas.microsoft.com/office/drawing/2014/main" id="{E272A80D-E782-4747-3C61-6C66D98763C6}"/>
              </a:ext>
            </a:extLst>
          </p:cNvPr>
          <p:cNvSpPr>
            <a:spLocks noGrp="1"/>
          </p:cNvSpPr>
          <p:nvPr>
            <p:ph idx="1"/>
          </p:nvPr>
        </p:nvSpPr>
        <p:spPr>
          <a:xfrm>
            <a:off x="492919" y="1710813"/>
            <a:ext cx="8065294" cy="3766185"/>
          </a:xfrm>
        </p:spPr>
        <p:txBody>
          <a:bodyPr/>
          <a:lstStyle/>
          <a:p>
            <a:pPr>
              <a:buFont typeface="Arial" panose="020B0604020202020204" pitchFamily="34" charset="0"/>
              <a:buChar char="•"/>
            </a:pPr>
            <a:r>
              <a:rPr lang="en-US" dirty="0"/>
              <a:t> All models use a 5-step sliding window and a chronological 80/20 train/test split</a:t>
            </a:r>
          </a:p>
          <a:p>
            <a:pPr>
              <a:buFont typeface="Arial" panose="020B0604020202020204" pitchFamily="34" charset="0"/>
              <a:buChar char="•"/>
            </a:pPr>
            <a:r>
              <a:rPr lang="en-US" dirty="0"/>
              <a:t> Evaluated performance using MAE, RMSE, and R² scores.</a:t>
            </a:r>
          </a:p>
        </p:txBody>
      </p:sp>
      <p:graphicFrame>
        <p:nvGraphicFramePr>
          <p:cNvPr id="4" name="Table 3">
            <a:extLst>
              <a:ext uri="{FF2B5EF4-FFF2-40B4-BE49-F238E27FC236}">
                <a16:creationId xmlns:a16="http://schemas.microsoft.com/office/drawing/2014/main" id="{8696B5B1-F690-3D56-2A5E-58BA5E955327}"/>
              </a:ext>
            </a:extLst>
          </p:cNvPr>
          <p:cNvGraphicFramePr>
            <a:graphicFrameLocks noGrp="1"/>
          </p:cNvGraphicFramePr>
          <p:nvPr>
            <p:extLst>
              <p:ext uri="{D42A27DB-BD31-4B8C-83A1-F6EECF244321}">
                <p14:modId xmlns:p14="http://schemas.microsoft.com/office/powerpoint/2010/main" val="2433197698"/>
              </p:ext>
            </p:extLst>
          </p:nvPr>
        </p:nvGraphicFramePr>
        <p:xfrm>
          <a:off x="454703" y="3119281"/>
          <a:ext cx="8156012" cy="3239186"/>
        </p:xfrm>
        <a:graphic>
          <a:graphicData uri="http://schemas.openxmlformats.org/drawingml/2006/table">
            <a:tbl>
              <a:tblPr>
                <a:tableStyleId>{073A0DAA-6AF3-43AB-8588-CEC1D06C72B9}</a:tableStyleId>
              </a:tblPr>
              <a:tblGrid>
                <a:gridCol w="4078006">
                  <a:extLst>
                    <a:ext uri="{9D8B030D-6E8A-4147-A177-3AD203B41FA5}">
                      <a16:colId xmlns:a16="http://schemas.microsoft.com/office/drawing/2014/main" val="2514377299"/>
                    </a:ext>
                  </a:extLst>
                </a:gridCol>
                <a:gridCol w="4078006">
                  <a:extLst>
                    <a:ext uri="{9D8B030D-6E8A-4147-A177-3AD203B41FA5}">
                      <a16:colId xmlns:a16="http://schemas.microsoft.com/office/drawing/2014/main" val="3015073787"/>
                    </a:ext>
                  </a:extLst>
                </a:gridCol>
              </a:tblGrid>
              <a:tr h="370193">
                <a:tc>
                  <a:txBody>
                    <a:bodyPr/>
                    <a:lstStyle/>
                    <a:p>
                      <a:pPr>
                        <a:buNone/>
                      </a:pPr>
                      <a:r>
                        <a:rPr lang="fr-FR" sz="1800" dirty="0"/>
                        <a:t>Model</a:t>
                      </a:r>
                    </a:p>
                  </a:txBody>
                  <a:tcPr anchor="ctr"/>
                </a:tc>
                <a:tc>
                  <a:txBody>
                    <a:bodyPr/>
                    <a:lstStyle/>
                    <a:p>
                      <a:pPr>
                        <a:buNone/>
                      </a:pPr>
                      <a:r>
                        <a:rPr lang="fr-FR" sz="1800"/>
                        <a:t>Description</a:t>
                      </a:r>
                    </a:p>
                  </a:txBody>
                  <a:tcPr anchor="ctr"/>
                </a:tc>
                <a:extLst>
                  <a:ext uri="{0D108BD9-81ED-4DB2-BD59-A6C34878D82A}">
                    <a16:rowId xmlns:a16="http://schemas.microsoft.com/office/drawing/2014/main" val="565783048"/>
                  </a:ext>
                </a:extLst>
              </a:tr>
              <a:tr h="925482">
                <a:tc>
                  <a:txBody>
                    <a:bodyPr/>
                    <a:lstStyle/>
                    <a:p>
                      <a:pPr>
                        <a:buNone/>
                      </a:pPr>
                      <a:r>
                        <a:rPr lang="fr-FR" sz="1800"/>
                        <a:t>LSTM</a:t>
                      </a:r>
                    </a:p>
                  </a:txBody>
                  <a:tcPr anchor="ctr"/>
                </a:tc>
                <a:tc>
                  <a:txBody>
                    <a:bodyPr/>
                    <a:lstStyle/>
                    <a:p>
                      <a:pPr>
                        <a:buNone/>
                      </a:pPr>
                      <a:r>
                        <a:rPr lang="en-US" sz="1800"/>
                        <a:t>LSTM(248) → Dense(128) → Dense(64). Captures temporal dynamics across the window</a:t>
                      </a:r>
                    </a:p>
                  </a:txBody>
                  <a:tcPr anchor="ctr"/>
                </a:tc>
                <a:extLst>
                  <a:ext uri="{0D108BD9-81ED-4DB2-BD59-A6C34878D82A}">
                    <a16:rowId xmlns:a16="http://schemas.microsoft.com/office/drawing/2014/main" val="1480780831"/>
                  </a:ext>
                </a:extLst>
              </a:tr>
              <a:tr h="647837">
                <a:tc>
                  <a:txBody>
                    <a:bodyPr/>
                    <a:lstStyle/>
                    <a:p>
                      <a:pPr>
                        <a:buNone/>
                      </a:pPr>
                      <a:r>
                        <a:rPr lang="fr-FR" sz="1800"/>
                        <a:t>Random Forest</a:t>
                      </a:r>
                    </a:p>
                  </a:txBody>
                  <a:tcPr anchor="ctr"/>
                </a:tc>
                <a:tc>
                  <a:txBody>
                    <a:bodyPr/>
                    <a:lstStyle/>
                    <a:p>
                      <a:pPr>
                        <a:buNone/>
                      </a:pPr>
                      <a:r>
                        <a:rPr lang="en-US" sz="1800"/>
                        <a:t>100 trees on flattened window. Handles non-linear feature interactions</a:t>
                      </a:r>
                    </a:p>
                  </a:txBody>
                  <a:tcPr anchor="ctr"/>
                </a:tc>
                <a:extLst>
                  <a:ext uri="{0D108BD9-81ED-4DB2-BD59-A6C34878D82A}">
                    <a16:rowId xmlns:a16="http://schemas.microsoft.com/office/drawing/2014/main" val="920293273"/>
                  </a:ext>
                </a:extLst>
              </a:tr>
              <a:tr h="647837">
                <a:tc>
                  <a:txBody>
                    <a:bodyPr/>
                    <a:lstStyle/>
                    <a:p>
                      <a:pPr>
                        <a:buNone/>
                      </a:pPr>
                      <a:r>
                        <a:rPr lang="fr-FR" sz="1800"/>
                        <a:t>Stack + Linear Regression</a:t>
                      </a:r>
                    </a:p>
                  </a:txBody>
                  <a:tcPr anchor="ctr"/>
                </a:tc>
                <a:tc>
                  <a:txBody>
                    <a:bodyPr/>
                    <a:lstStyle/>
                    <a:p>
                      <a:pPr>
                        <a:buNone/>
                      </a:pPr>
                      <a:r>
                        <a:rPr lang="en-US" sz="1800"/>
                        <a:t>Meta-learner learning a fixed blend of both models' outputs</a:t>
                      </a:r>
                    </a:p>
                  </a:txBody>
                  <a:tcPr anchor="ctr"/>
                </a:tc>
                <a:extLst>
                  <a:ext uri="{0D108BD9-81ED-4DB2-BD59-A6C34878D82A}">
                    <a16:rowId xmlns:a16="http://schemas.microsoft.com/office/drawing/2014/main" val="727651488"/>
                  </a:ext>
                </a:extLst>
              </a:tr>
              <a:tr h="647837">
                <a:tc>
                  <a:txBody>
                    <a:bodyPr/>
                    <a:lstStyle/>
                    <a:p>
                      <a:pPr>
                        <a:buNone/>
                      </a:pPr>
                      <a:r>
                        <a:rPr lang="fr-FR" sz="1800" dirty="0"/>
                        <a:t>Stack + Random Forest</a:t>
                      </a:r>
                    </a:p>
                  </a:txBody>
                  <a:tcPr anchor="ctr"/>
                </a:tc>
                <a:tc>
                  <a:txBody>
                    <a:bodyPr/>
                    <a:lstStyle/>
                    <a:p>
                      <a:pPr>
                        <a:buNone/>
                      </a:pPr>
                      <a:r>
                        <a:rPr lang="en-US" sz="1800" dirty="0"/>
                        <a:t>Meta-learner learning a non-linear input-dependent blend</a:t>
                      </a:r>
                    </a:p>
                  </a:txBody>
                  <a:tcPr anchor="ctr"/>
                </a:tc>
                <a:extLst>
                  <a:ext uri="{0D108BD9-81ED-4DB2-BD59-A6C34878D82A}">
                    <a16:rowId xmlns:a16="http://schemas.microsoft.com/office/drawing/2014/main" val="4068121249"/>
                  </a:ext>
                </a:extLst>
              </a:tr>
            </a:tbl>
          </a:graphicData>
        </a:graphic>
      </p:graphicFrame>
      <p:sp>
        <p:nvSpPr>
          <p:cNvPr id="6" name="Slide Number Placeholder 5">
            <a:extLst>
              <a:ext uri="{FF2B5EF4-FFF2-40B4-BE49-F238E27FC236}">
                <a16:creationId xmlns:a16="http://schemas.microsoft.com/office/drawing/2014/main" id="{5C602DEB-937F-7902-8084-4FF9A2DCDFEA}"/>
              </a:ext>
            </a:extLst>
          </p:cNvPr>
          <p:cNvSpPr>
            <a:spLocks noGrp="1"/>
          </p:cNvSpPr>
          <p:nvPr>
            <p:ph type="sldNum" sz="quarter" idx="12"/>
          </p:nvPr>
        </p:nvSpPr>
        <p:spPr/>
        <p:txBody>
          <a:bodyPr/>
          <a:lstStyle/>
          <a:p>
            <a:fld id="{C1FF6DA9-008F-8B48-92A6-B652298478BF}" type="slidenum">
              <a:rPr lang="en-US" smtClean="0"/>
              <a:t>12</a:t>
            </a:fld>
            <a:endParaRPr lang="en-US"/>
          </a:p>
        </p:txBody>
      </p:sp>
    </p:spTree>
    <p:extLst>
      <p:ext uri="{BB962C8B-B14F-4D97-AF65-F5344CB8AC3E}">
        <p14:creationId xmlns:p14="http://schemas.microsoft.com/office/powerpoint/2010/main" val="908142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289D-FAB2-9034-6BF1-A1B36DD33148}"/>
              </a:ext>
            </a:extLst>
          </p:cNvPr>
          <p:cNvSpPr>
            <a:spLocks noGrp="1"/>
          </p:cNvSpPr>
          <p:nvPr>
            <p:ph type="title"/>
          </p:nvPr>
        </p:nvSpPr>
        <p:spPr>
          <a:xfrm>
            <a:off x="492919" y="499533"/>
            <a:ext cx="8079581" cy="741343"/>
          </a:xfrm>
        </p:spPr>
        <p:txBody>
          <a:bodyPr>
            <a:normAutofit fontScale="90000"/>
          </a:bodyPr>
          <a:lstStyle/>
          <a:p>
            <a:r>
              <a:rPr lang="fr-FR" dirty="0">
                <a:solidFill>
                  <a:srgbClr val="FF4A00"/>
                </a:solidFill>
              </a:rPr>
              <a:t>LSTM Train</a:t>
            </a:r>
          </a:p>
        </p:txBody>
      </p:sp>
      <p:pic>
        <p:nvPicPr>
          <p:cNvPr id="5" name="Content Placeholder 4">
            <a:extLst>
              <a:ext uri="{FF2B5EF4-FFF2-40B4-BE49-F238E27FC236}">
                <a16:creationId xmlns:a16="http://schemas.microsoft.com/office/drawing/2014/main" id="{CFA28346-1DA3-3876-F4FD-D055852E457C}"/>
              </a:ext>
            </a:extLst>
          </p:cNvPr>
          <p:cNvPicPr>
            <a:picLocks noGrp="1" noChangeAspect="1"/>
          </p:cNvPicPr>
          <p:nvPr>
            <p:ph idx="1"/>
          </p:nvPr>
        </p:nvPicPr>
        <p:blipFill>
          <a:blip r:embed="rId2"/>
          <a:stretch>
            <a:fillRect/>
          </a:stretch>
        </p:blipFill>
        <p:spPr>
          <a:xfrm>
            <a:off x="651619" y="1636233"/>
            <a:ext cx="7762179" cy="3585534"/>
          </a:xfrm>
          <a:prstGeom prst="rect">
            <a:avLst/>
          </a:prstGeom>
        </p:spPr>
      </p:pic>
      <p:sp>
        <p:nvSpPr>
          <p:cNvPr id="9" name="Slide Number Placeholder 8">
            <a:extLst>
              <a:ext uri="{FF2B5EF4-FFF2-40B4-BE49-F238E27FC236}">
                <a16:creationId xmlns:a16="http://schemas.microsoft.com/office/drawing/2014/main" id="{EEF6E7BA-8385-3076-017F-1B78391CEC5C}"/>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12" name="TextBox 11">
            <a:extLst>
              <a:ext uri="{FF2B5EF4-FFF2-40B4-BE49-F238E27FC236}">
                <a16:creationId xmlns:a16="http://schemas.microsoft.com/office/drawing/2014/main" id="{C14DFE87-4385-FE16-E9DC-B2EBAA76A663}"/>
              </a:ext>
            </a:extLst>
          </p:cNvPr>
          <p:cNvSpPr txBox="1"/>
          <p:nvPr/>
        </p:nvSpPr>
        <p:spPr>
          <a:xfrm>
            <a:off x="651619" y="5757653"/>
            <a:ext cx="6329284" cy="369332"/>
          </a:xfrm>
          <a:prstGeom prst="rect">
            <a:avLst/>
          </a:prstGeom>
          <a:noFill/>
        </p:spPr>
        <p:txBody>
          <a:bodyPr wrap="square">
            <a:spAutoFit/>
          </a:bodyPr>
          <a:lstStyle/>
          <a:p>
            <a:pPr latinLnBrk="1"/>
            <a:r>
              <a:rPr lang="fr-FR" dirty="0"/>
              <a:t>LSTM Train  | MSE=595.2509  RMSE=24.3978  MAE=6.1087</a:t>
            </a:r>
          </a:p>
        </p:txBody>
      </p:sp>
    </p:spTree>
    <p:extLst>
      <p:ext uri="{BB962C8B-B14F-4D97-AF65-F5344CB8AC3E}">
        <p14:creationId xmlns:p14="http://schemas.microsoft.com/office/powerpoint/2010/main" val="199055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B8EFBEC-7C8E-4B4A-3E3F-14EC98B41930}"/>
              </a:ext>
            </a:extLst>
          </p:cNvPr>
          <p:cNvPicPr>
            <a:picLocks noGrp="1" noChangeAspect="1"/>
          </p:cNvPicPr>
          <p:nvPr>
            <p:ph idx="1"/>
          </p:nvPr>
        </p:nvPicPr>
        <p:blipFill>
          <a:blip r:embed="rId2"/>
          <a:stretch>
            <a:fillRect/>
          </a:stretch>
        </p:blipFill>
        <p:spPr>
          <a:xfrm>
            <a:off x="467829" y="1274711"/>
            <a:ext cx="8208341" cy="4308578"/>
          </a:xfrm>
          <a:prstGeom prst="rect">
            <a:avLst/>
          </a:prstGeom>
        </p:spPr>
      </p:pic>
      <p:sp>
        <p:nvSpPr>
          <p:cNvPr id="7" name="Title 1">
            <a:extLst>
              <a:ext uri="{FF2B5EF4-FFF2-40B4-BE49-F238E27FC236}">
                <a16:creationId xmlns:a16="http://schemas.microsoft.com/office/drawing/2014/main" id="{69B4CFA9-3D57-65CB-4A8B-2EFAB5C96960}"/>
              </a:ext>
            </a:extLst>
          </p:cNvPr>
          <p:cNvSpPr>
            <a:spLocks noGrp="1"/>
          </p:cNvSpPr>
          <p:nvPr>
            <p:ph type="title"/>
          </p:nvPr>
        </p:nvSpPr>
        <p:spPr>
          <a:xfrm>
            <a:off x="492919" y="499533"/>
            <a:ext cx="8079581" cy="741343"/>
          </a:xfrm>
        </p:spPr>
        <p:txBody>
          <a:bodyPr>
            <a:normAutofit fontScale="90000"/>
          </a:bodyPr>
          <a:lstStyle/>
          <a:p>
            <a:r>
              <a:rPr lang="fr-FR" dirty="0">
                <a:solidFill>
                  <a:srgbClr val="FF4A00"/>
                </a:solidFill>
              </a:rPr>
              <a:t>LSTM Test</a:t>
            </a:r>
          </a:p>
        </p:txBody>
      </p:sp>
      <p:sp>
        <p:nvSpPr>
          <p:cNvPr id="9" name="Slide Number Placeholder 8">
            <a:extLst>
              <a:ext uri="{FF2B5EF4-FFF2-40B4-BE49-F238E27FC236}">
                <a16:creationId xmlns:a16="http://schemas.microsoft.com/office/drawing/2014/main" id="{A161704C-D825-586D-4CAB-6C4E84869022}"/>
              </a:ext>
            </a:extLst>
          </p:cNvPr>
          <p:cNvSpPr>
            <a:spLocks noGrp="1"/>
          </p:cNvSpPr>
          <p:nvPr>
            <p:ph type="sldNum" sz="quarter" idx="12"/>
          </p:nvPr>
        </p:nvSpPr>
        <p:spPr/>
        <p:txBody>
          <a:bodyPr/>
          <a:lstStyle/>
          <a:p>
            <a:fld id="{C1FF6DA9-008F-8B48-92A6-B652298478BF}" type="slidenum">
              <a:rPr lang="en-US" smtClean="0"/>
              <a:t>14</a:t>
            </a:fld>
            <a:endParaRPr lang="en-US"/>
          </a:p>
        </p:txBody>
      </p:sp>
      <p:sp>
        <p:nvSpPr>
          <p:cNvPr id="11" name="TextBox 10">
            <a:extLst>
              <a:ext uri="{FF2B5EF4-FFF2-40B4-BE49-F238E27FC236}">
                <a16:creationId xmlns:a16="http://schemas.microsoft.com/office/drawing/2014/main" id="{B696A4B3-FA38-0E99-0229-2A7F1FFE8C6F}"/>
              </a:ext>
            </a:extLst>
          </p:cNvPr>
          <p:cNvSpPr txBox="1"/>
          <p:nvPr/>
        </p:nvSpPr>
        <p:spPr>
          <a:xfrm>
            <a:off x="624348" y="5927580"/>
            <a:ext cx="6395884" cy="369332"/>
          </a:xfrm>
          <a:prstGeom prst="rect">
            <a:avLst/>
          </a:prstGeom>
          <a:noFill/>
        </p:spPr>
        <p:txBody>
          <a:bodyPr wrap="square">
            <a:spAutoFit/>
          </a:bodyPr>
          <a:lstStyle/>
          <a:p>
            <a:pPr latinLnBrk="1"/>
            <a:r>
              <a:rPr lang="fr-FR" dirty="0"/>
              <a:t>LSTM Test   | MSE=2726.0275  RMSE=52.2114  MAE=18.1409</a:t>
            </a:r>
          </a:p>
        </p:txBody>
      </p:sp>
    </p:spTree>
    <p:extLst>
      <p:ext uri="{BB962C8B-B14F-4D97-AF65-F5344CB8AC3E}">
        <p14:creationId xmlns:p14="http://schemas.microsoft.com/office/powerpoint/2010/main" val="142173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F5845-7D6B-BF73-5365-691D2D53C5E3}"/>
              </a:ext>
            </a:extLst>
          </p:cNvPr>
          <p:cNvSpPr>
            <a:spLocks noGrp="1"/>
          </p:cNvSpPr>
          <p:nvPr>
            <p:ph type="title"/>
          </p:nvPr>
        </p:nvSpPr>
        <p:spPr>
          <a:xfrm>
            <a:off x="492919" y="499533"/>
            <a:ext cx="8079581" cy="798325"/>
          </a:xfrm>
        </p:spPr>
        <p:txBody>
          <a:bodyPr/>
          <a:lstStyle/>
          <a:p>
            <a:r>
              <a:rPr lang="fr-FR" dirty="0">
                <a:solidFill>
                  <a:srgbClr val="FF4A00"/>
                </a:solidFill>
              </a:rPr>
              <a:t>Random Forest Train</a:t>
            </a:r>
          </a:p>
        </p:txBody>
      </p:sp>
      <p:pic>
        <p:nvPicPr>
          <p:cNvPr id="5" name="Picture 4">
            <a:extLst>
              <a:ext uri="{FF2B5EF4-FFF2-40B4-BE49-F238E27FC236}">
                <a16:creationId xmlns:a16="http://schemas.microsoft.com/office/drawing/2014/main" id="{A4B3C2E4-DE5E-76A2-5CE3-83B3549D2586}"/>
              </a:ext>
            </a:extLst>
          </p:cNvPr>
          <p:cNvPicPr>
            <a:picLocks noChangeAspect="1"/>
          </p:cNvPicPr>
          <p:nvPr/>
        </p:nvPicPr>
        <p:blipFill>
          <a:blip r:embed="rId3"/>
          <a:stretch>
            <a:fillRect/>
          </a:stretch>
        </p:blipFill>
        <p:spPr>
          <a:xfrm>
            <a:off x="532209" y="1396181"/>
            <a:ext cx="8079581" cy="4704658"/>
          </a:xfrm>
          <a:prstGeom prst="rect">
            <a:avLst/>
          </a:prstGeom>
        </p:spPr>
      </p:pic>
      <p:sp>
        <p:nvSpPr>
          <p:cNvPr id="7" name="Slide Number Placeholder 6">
            <a:extLst>
              <a:ext uri="{FF2B5EF4-FFF2-40B4-BE49-F238E27FC236}">
                <a16:creationId xmlns:a16="http://schemas.microsoft.com/office/drawing/2014/main" id="{FD79ED05-4A06-4183-71E5-283C69F340AC}"/>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8" name="TextBox 7">
            <a:extLst>
              <a:ext uri="{FF2B5EF4-FFF2-40B4-BE49-F238E27FC236}">
                <a16:creationId xmlns:a16="http://schemas.microsoft.com/office/drawing/2014/main" id="{75CD4E21-0FDB-0C19-79E6-C747F95F7AD8}"/>
              </a:ext>
            </a:extLst>
          </p:cNvPr>
          <p:cNvSpPr txBox="1"/>
          <p:nvPr/>
        </p:nvSpPr>
        <p:spPr>
          <a:xfrm>
            <a:off x="532209" y="6199162"/>
            <a:ext cx="6513871" cy="369332"/>
          </a:xfrm>
          <a:prstGeom prst="rect">
            <a:avLst/>
          </a:prstGeom>
          <a:noFill/>
        </p:spPr>
        <p:txBody>
          <a:bodyPr wrap="square">
            <a:spAutoFit/>
          </a:bodyPr>
          <a:lstStyle/>
          <a:p>
            <a:pPr latinLnBrk="1"/>
            <a:r>
              <a:rPr lang="fr-FR" dirty="0"/>
              <a:t>RF Train | MSE=66.5981  RMSE=8.1608  MAE=2.5115</a:t>
            </a:r>
          </a:p>
        </p:txBody>
      </p:sp>
    </p:spTree>
    <p:extLst>
      <p:ext uri="{BB962C8B-B14F-4D97-AF65-F5344CB8AC3E}">
        <p14:creationId xmlns:p14="http://schemas.microsoft.com/office/powerpoint/2010/main" val="890382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65AC92B-F46B-9E80-C242-B3B7C384D914}"/>
              </a:ext>
            </a:extLst>
          </p:cNvPr>
          <p:cNvPicPr>
            <a:picLocks noGrp="1" noChangeAspect="1"/>
          </p:cNvPicPr>
          <p:nvPr>
            <p:ph idx="1"/>
          </p:nvPr>
        </p:nvPicPr>
        <p:blipFill>
          <a:blip r:embed="rId2"/>
          <a:stretch>
            <a:fillRect/>
          </a:stretch>
        </p:blipFill>
        <p:spPr>
          <a:xfrm>
            <a:off x="706822" y="1335104"/>
            <a:ext cx="7730355" cy="4581993"/>
          </a:xfrm>
          <a:prstGeom prst="rect">
            <a:avLst/>
          </a:prstGeom>
        </p:spPr>
      </p:pic>
      <p:sp>
        <p:nvSpPr>
          <p:cNvPr id="6" name="Title 1">
            <a:extLst>
              <a:ext uri="{FF2B5EF4-FFF2-40B4-BE49-F238E27FC236}">
                <a16:creationId xmlns:a16="http://schemas.microsoft.com/office/drawing/2014/main" id="{D5BE4ECB-95D6-8D79-53C3-9839C39FE956}"/>
              </a:ext>
            </a:extLst>
          </p:cNvPr>
          <p:cNvSpPr>
            <a:spLocks noGrp="1"/>
          </p:cNvSpPr>
          <p:nvPr>
            <p:ph type="title"/>
          </p:nvPr>
        </p:nvSpPr>
        <p:spPr>
          <a:xfrm>
            <a:off x="493713" y="500063"/>
            <a:ext cx="8078787" cy="787963"/>
          </a:xfrm>
        </p:spPr>
        <p:txBody>
          <a:bodyPr/>
          <a:lstStyle/>
          <a:p>
            <a:r>
              <a:rPr lang="fr-FR" dirty="0">
                <a:solidFill>
                  <a:srgbClr val="FF4A00"/>
                </a:solidFill>
              </a:rPr>
              <a:t>Random Forest Test</a:t>
            </a:r>
          </a:p>
        </p:txBody>
      </p:sp>
      <p:sp>
        <p:nvSpPr>
          <p:cNvPr id="8" name="Slide Number Placeholder 7">
            <a:extLst>
              <a:ext uri="{FF2B5EF4-FFF2-40B4-BE49-F238E27FC236}">
                <a16:creationId xmlns:a16="http://schemas.microsoft.com/office/drawing/2014/main" id="{38FC1F6C-EEA6-3CF4-2A6C-0E80ED320FC9}"/>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10" name="TextBox 9">
            <a:extLst>
              <a:ext uri="{FF2B5EF4-FFF2-40B4-BE49-F238E27FC236}">
                <a16:creationId xmlns:a16="http://schemas.microsoft.com/office/drawing/2014/main" id="{02BA0283-E7E9-CA55-0304-B5CDB92EDAA6}"/>
              </a:ext>
            </a:extLst>
          </p:cNvPr>
          <p:cNvSpPr txBox="1"/>
          <p:nvPr/>
        </p:nvSpPr>
        <p:spPr>
          <a:xfrm>
            <a:off x="811159" y="6004446"/>
            <a:ext cx="6513871" cy="369332"/>
          </a:xfrm>
          <a:prstGeom prst="rect">
            <a:avLst/>
          </a:prstGeom>
          <a:noFill/>
        </p:spPr>
        <p:txBody>
          <a:bodyPr wrap="square">
            <a:spAutoFit/>
          </a:bodyPr>
          <a:lstStyle/>
          <a:p>
            <a:pPr latinLnBrk="1"/>
            <a:r>
              <a:rPr lang="fr-FR" dirty="0"/>
              <a:t>RF Test  | MSE=1345.8161  RMSE=36.6854  MAE=12.3315</a:t>
            </a:r>
          </a:p>
        </p:txBody>
      </p:sp>
    </p:spTree>
    <p:extLst>
      <p:ext uri="{BB962C8B-B14F-4D97-AF65-F5344CB8AC3E}">
        <p14:creationId xmlns:p14="http://schemas.microsoft.com/office/powerpoint/2010/main" val="504282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C2B8B1E-6F6D-B3F9-1958-1ACE6D4DDB53}"/>
              </a:ext>
            </a:extLst>
          </p:cNvPr>
          <p:cNvPicPr>
            <a:picLocks noGrp="1" noChangeAspect="1"/>
          </p:cNvPicPr>
          <p:nvPr>
            <p:ph idx="1"/>
          </p:nvPr>
        </p:nvPicPr>
        <p:blipFill>
          <a:blip r:embed="rId2"/>
          <a:stretch>
            <a:fillRect/>
          </a:stretch>
        </p:blipFill>
        <p:spPr>
          <a:xfrm>
            <a:off x="262946" y="1207985"/>
            <a:ext cx="8618108" cy="4752184"/>
          </a:xfrm>
          <a:prstGeom prst="rect">
            <a:avLst/>
          </a:prstGeom>
        </p:spPr>
      </p:pic>
      <p:sp>
        <p:nvSpPr>
          <p:cNvPr id="8" name="Title 1">
            <a:extLst>
              <a:ext uri="{FF2B5EF4-FFF2-40B4-BE49-F238E27FC236}">
                <a16:creationId xmlns:a16="http://schemas.microsoft.com/office/drawing/2014/main" id="{A74D3907-1910-EF19-D9C4-E4125DC0F73C}"/>
              </a:ext>
            </a:extLst>
          </p:cNvPr>
          <p:cNvSpPr>
            <a:spLocks noGrp="1"/>
          </p:cNvSpPr>
          <p:nvPr>
            <p:ph type="title"/>
          </p:nvPr>
        </p:nvSpPr>
        <p:spPr>
          <a:xfrm>
            <a:off x="493713" y="420022"/>
            <a:ext cx="8078787" cy="787963"/>
          </a:xfrm>
        </p:spPr>
        <p:txBody>
          <a:bodyPr>
            <a:normAutofit fontScale="90000"/>
          </a:bodyPr>
          <a:lstStyle/>
          <a:p>
            <a:r>
              <a:rPr lang="fr-FR" dirty="0" err="1">
                <a:solidFill>
                  <a:srgbClr val="FF0000"/>
                </a:solidFill>
              </a:rPr>
              <a:t>Stacking</a:t>
            </a:r>
            <a:r>
              <a:rPr lang="fr-FR" dirty="0">
                <a:solidFill>
                  <a:srgbClr val="FF0000"/>
                </a:solidFill>
              </a:rPr>
              <a:t> Ensemble: Linear </a:t>
            </a:r>
            <a:r>
              <a:rPr lang="fr-FR" dirty="0" err="1">
                <a:solidFill>
                  <a:srgbClr val="FF0000"/>
                </a:solidFill>
              </a:rPr>
              <a:t>Regression</a:t>
            </a:r>
            <a:endParaRPr lang="fr-FR" dirty="0">
              <a:solidFill>
                <a:srgbClr val="FF0000"/>
              </a:solidFill>
            </a:endParaRPr>
          </a:p>
        </p:txBody>
      </p:sp>
      <p:sp>
        <p:nvSpPr>
          <p:cNvPr id="10" name="TextBox 9">
            <a:extLst>
              <a:ext uri="{FF2B5EF4-FFF2-40B4-BE49-F238E27FC236}">
                <a16:creationId xmlns:a16="http://schemas.microsoft.com/office/drawing/2014/main" id="{A0035F9A-D2C8-B417-C9F9-9434633D2C89}"/>
              </a:ext>
            </a:extLst>
          </p:cNvPr>
          <p:cNvSpPr txBox="1"/>
          <p:nvPr/>
        </p:nvSpPr>
        <p:spPr>
          <a:xfrm>
            <a:off x="378541" y="6009468"/>
            <a:ext cx="7742903" cy="646331"/>
          </a:xfrm>
          <a:prstGeom prst="rect">
            <a:avLst/>
          </a:prstGeom>
          <a:noFill/>
        </p:spPr>
        <p:txBody>
          <a:bodyPr wrap="square">
            <a:spAutoFit/>
          </a:bodyPr>
          <a:lstStyle/>
          <a:p>
            <a:pPr latinLnBrk="1"/>
            <a:r>
              <a:rPr lang="fr-FR" dirty="0"/>
              <a:t>Stack-LR Train | MSE=5.8056  RMSE=2.4095  MAE=0.7451</a:t>
            </a:r>
          </a:p>
          <a:p>
            <a:pPr latinLnBrk="1"/>
            <a:r>
              <a:rPr lang="fr-FR" dirty="0"/>
              <a:t>Stack-LR Test  | MSE=1053.3264  RMSE=32.4550  MAE=10.9192</a:t>
            </a:r>
          </a:p>
        </p:txBody>
      </p:sp>
      <p:sp>
        <p:nvSpPr>
          <p:cNvPr id="12" name="Slide Number Placeholder 11">
            <a:extLst>
              <a:ext uri="{FF2B5EF4-FFF2-40B4-BE49-F238E27FC236}">
                <a16:creationId xmlns:a16="http://schemas.microsoft.com/office/drawing/2014/main" id="{232A019E-75F8-0757-8EA8-EE34856CDDE0}"/>
              </a:ext>
            </a:extLst>
          </p:cNvPr>
          <p:cNvSpPr>
            <a:spLocks noGrp="1"/>
          </p:cNvSpPr>
          <p:nvPr>
            <p:ph type="sldNum" sz="quarter" idx="12"/>
          </p:nvPr>
        </p:nvSpPr>
        <p:spPr/>
        <p:txBody>
          <a:bodyPr/>
          <a:lstStyle/>
          <a:p>
            <a:fld id="{C1FF6DA9-008F-8B48-92A6-B652298478BF}" type="slidenum">
              <a:rPr lang="en-US" smtClean="0"/>
              <a:t>17</a:t>
            </a:fld>
            <a:endParaRPr lang="en-US"/>
          </a:p>
        </p:txBody>
      </p:sp>
    </p:spTree>
    <p:extLst>
      <p:ext uri="{BB962C8B-B14F-4D97-AF65-F5344CB8AC3E}">
        <p14:creationId xmlns:p14="http://schemas.microsoft.com/office/powerpoint/2010/main" val="1655217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2875DF7-489C-AC5F-9452-4B49C9092945}"/>
              </a:ext>
            </a:extLst>
          </p:cNvPr>
          <p:cNvPicPr>
            <a:picLocks noGrp="1" noChangeAspect="1"/>
          </p:cNvPicPr>
          <p:nvPr>
            <p:ph idx="1"/>
          </p:nvPr>
        </p:nvPicPr>
        <p:blipFill>
          <a:blip r:embed="rId3"/>
          <a:stretch>
            <a:fillRect/>
          </a:stretch>
        </p:blipFill>
        <p:spPr>
          <a:xfrm>
            <a:off x="129925" y="1207985"/>
            <a:ext cx="8884149" cy="4532672"/>
          </a:xfrm>
          <a:prstGeom prst="rect">
            <a:avLst/>
          </a:prstGeom>
        </p:spPr>
      </p:pic>
      <p:sp>
        <p:nvSpPr>
          <p:cNvPr id="6" name="Title 1">
            <a:extLst>
              <a:ext uri="{FF2B5EF4-FFF2-40B4-BE49-F238E27FC236}">
                <a16:creationId xmlns:a16="http://schemas.microsoft.com/office/drawing/2014/main" id="{A731DE8C-85CE-6D98-466B-68F47CFF65E3}"/>
              </a:ext>
            </a:extLst>
          </p:cNvPr>
          <p:cNvSpPr>
            <a:spLocks noGrp="1"/>
          </p:cNvSpPr>
          <p:nvPr>
            <p:ph type="title"/>
          </p:nvPr>
        </p:nvSpPr>
        <p:spPr>
          <a:xfrm>
            <a:off x="493713" y="420022"/>
            <a:ext cx="8078787" cy="787963"/>
          </a:xfrm>
        </p:spPr>
        <p:txBody>
          <a:bodyPr>
            <a:normAutofit fontScale="90000"/>
          </a:bodyPr>
          <a:lstStyle/>
          <a:p>
            <a:r>
              <a:rPr lang="fr-FR" dirty="0" err="1">
                <a:solidFill>
                  <a:srgbClr val="FF0000"/>
                </a:solidFill>
              </a:rPr>
              <a:t>Stacking</a:t>
            </a:r>
            <a:r>
              <a:rPr lang="fr-FR" dirty="0">
                <a:solidFill>
                  <a:srgbClr val="FF0000"/>
                </a:solidFill>
              </a:rPr>
              <a:t> Ensemble: Random Forest</a:t>
            </a:r>
          </a:p>
        </p:txBody>
      </p:sp>
      <p:sp>
        <p:nvSpPr>
          <p:cNvPr id="8" name="TextBox 7">
            <a:extLst>
              <a:ext uri="{FF2B5EF4-FFF2-40B4-BE49-F238E27FC236}">
                <a16:creationId xmlns:a16="http://schemas.microsoft.com/office/drawing/2014/main" id="{F815DA8B-9950-0CBB-38E7-9245433933D2}"/>
              </a:ext>
            </a:extLst>
          </p:cNvPr>
          <p:cNvSpPr txBox="1"/>
          <p:nvPr/>
        </p:nvSpPr>
        <p:spPr>
          <a:xfrm>
            <a:off x="493713" y="5864320"/>
            <a:ext cx="6723164" cy="646331"/>
          </a:xfrm>
          <a:prstGeom prst="rect">
            <a:avLst/>
          </a:prstGeom>
          <a:noFill/>
        </p:spPr>
        <p:txBody>
          <a:bodyPr wrap="square">
            <a:spAutoFit/>
          </a:bodyPr>
          <a:lstStyle/>
          <a:p>
            <a:pPr latinLnBrk="1"/>
            <a:r>
              <a:rPr lang="fr-FR" dirty="0"/>
              <a:t>Stack-RF Train | MSE=27.4493  RMSE=5.2392  MAE=1.7207</a:t>
            </a:r>
          </a:p>
          <a:p>
            <a:pPr latinLnBrk="1"/>
            <a:r>
              <a:rPr lang="fr-FR" dirty="0"/>
              <a:t>Stack-RF Test  | MSE=1125.2855  RMSE=33.5453  MAE=11.5357</a:t>
            </a:r>
          </a:p>
        </p:txBody>
      </p:sp>
      <p:sp>
        <p:nvSpPr>
          <p:cNvPr id="10" name="Slide Number Placeholder 9">
            <a:extLst>
              <a:ext uri="{FF2B5EF4-FFF2-40B4-BE49-F238E27FC236}">
                <a16:creationId xmlns:a16="http://schemas.microsoft.com/office/drawing/2014/main" id="{38C207BA-0FBE-524F-D1D7-72EA3266FD04}"/>
              </a:ext>
            </a:extLst>
          </p:cNvPr>
          <p:cNvSpPr>
            <a:spLocks noGrp="1"/>
          </p:cNvSpPr>
          <p:nvPr>
            <p:ph type="sldNum" sz="quarter" idx="12"/>
          </p:nvPr>
        </p:nvSpPr>
        <p:spPr/>
        <p:txBody>
          <a:bodyPr/>
          <a:lstStyle/>
          <a:p>
            <a:fld id="{C1FF6DA9-008F-8B48-92A6-B652298478BF}" type="slidenum">
              <a:rPr lang="en-US" smtClean="0"/>
              <a:t>18</a:t>
            </a:fld>
            <a:endParaRPr lang="en-US"/>
          </a:p>
        </p:txBody>
      </p:sp>
    </p:spTree>
    <p:extLst>
      <p:ext uri="{BB962C8B-B14F-4D97-AF65-F5344CB8AC3E}">
        <p14:creationId xmlns:p14="http://schemas.microsoft.com/office/powerpoint/2010/main" val="463109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541D-CB19-DE12-C1D8-2797BF2B9237}"/>
              </a:ext>
            </a:extLst>
          </p:cNvPr>
          <p:cNvSpPr>
            <a:spLocks noGrp="1"/>
          </p:cNvSpPr>
          <p:nvPr>
            <p:ph type="title"/>
          </p:nvPr>
        </p:nvSpPr>
        <p:spPr>
          <a:xfrm>
            <a:off x="492919" y="499533"/>
            <a:ext cx="8079581" cy="768828"/>
          </a:xfrm>
        </p:spPr>
        <p:txBody>
          <a:bodyPr/>
          <a:lstStyle/>
          <a:p>
            <a:r>
              <a:rPr lang="fr-FR" dirty="0">
                <a:solidFill>
                  <a:srgbClr val="FF4A00"/>
                </a:solidFill>
              </a:rPr>
              <a:t>Model </a:t>
            </a:r>
            <a:r>
              <a:rPr lang="fr-FR" dirty="0" err="1">
                <a:solidFill>
                  <a:srgbClr val="FF4A00"/>
                </a:solidFill>
              </a:rPr>
              <a:t>Comparison</a:t>
            </a:r>
            <a:endParaRPr lang="fr-FR" dirty="0">
              <a:solidFill>
                <a:srgbClr val="FF4A00"/>
              </a:solidFill>
            </a:endParaRPr>
          </a:p>
        </p:txBody>
      </p:sp>
      <p:graphicFrame>
        <p:nvGraphicFramePr>
          <p:cNvPr id="4" name="Content Placeholder 3">
            <a:extLst>
              <a:ext uri="{FF2B5EF4-FFF2-40B4-BE49-F238E27FC236}">
                <a16:creationId xmlns:a16="http://schemas.microsoft.com/office/drawing/2014/main" id="{CD17DD65-E59E-6D92-7C10-E1C80752CC38}"/>
              </a:ext>
            </a:extLst>
          </p:cNvPr>
          <p:cNvGraphicFramePr>
            <a:graphicFrameLocks noGrp="1"/>
          </p:cNvGraphicFramePr>
          <p:nvPr>
            <p:ph idx="1"/>
            <p:extLst>
              <p:ext uri="{D42A27DB-BD31-4B8C-83A1-F6EECF244321}">
                <p14:modId xmlns:p14="http://schemas.microsoft.com/office/powerpoint/2010/main" val="606237494"/>
              </p:ext>
            </p:extLst>
          </p:nvPr>
        </p:nvGraphicFramePr>
        <p:xfrm>
          <a:off x="418523" y="1729002"/>
          <a:ext cx="8306953" cy="2377440"/>
        </p:xfrm>
        <a:graphic>
          <a:graphicData uri="http://schemas.openxmlformats.org/drawingml/2006/table">
            <a:tbl>
              <a:tblPr>
                <a:tableStyleId>{00A15C55-8517-42AA-B614-E9B94910E393}</a:tableStyleId>
              </a:tblPr>
              <a:tblGrid>
                <a:gridCol w="2783268">
                  <a:extLst>
                    <a:ext uri="{9D8B030D-6E8A-4147-A177-3AD203B41FA5}">
                      <a16:colId xmlns:a16="http://schemas.microsoft.com/office/drawing/2014/main" val="3728095249"/>
                    </a:ext>
                  </a:extLst>
                </a:gridCol>
                <a:gridCol w="1832781">
                  <a:extLst>
                    <a:ext uri="{9D8B030D-6E8A-4147-A177-3AD203B41FA5}">
                      <a16:colId xmlns:a16="http://schemas.microsoft.com/office/drawing/2014/main" val="4285340221"/>
                    </a:ext>
                  </a:extLst>
                </a:gridCol>
                <a:gridCol w="1921097">
                  <a:extLst>
                    <a:ext uri="{9D8B030D-6E8A-4147-A177-3AD203B41FA5}">
                      <a16:colId xmlns:a16="http://schemas.microsoft.com/office/drawing/2014/main" val="2475709299"/>
                    </a:ext>
                  </a:extLst>
                </a:gridCol>
                <a:gridCol w="1769807">
                  <a:extLst>
                    <a:ext uri="{9D8B030D-6E8A-4147-A177-3AD203B41FA5}">
                      <a16:colId xmlns:a16="http://schemas.microsoft.com/office/drawing/2014/main" val="2329008594"/>
                    </a:ext>
                  </a:extLst>
                </a:gridCol>
              </a:tblGrid>
              <a:tr h="365760">
                <a:tc>
                  <a:txBody>
                    <a:bodyPr/>
                    <a:lstStyle/>
                    <a:p>
                      <a:pPr>
                        <a:buNone/>
                      </a:pPr>
                      <a:r>
                        <a:rPr lang="fr-FR" sz="1800"/>
                        <a:t>Model</a:t>
                      </a:r>
                    </a:p>
                  </a:txBody>
                  <a:tcPr anchor="ctr"/>
                </a:tc>
                <a:tc>
                  <a:txBody>
                    <a:bodyPr/>
                    <a:lstStyle/>
                    <a:p>
                      <a:pPr>
                        <a:buNone/>
                      </a:pPr>
                      <a:r>
                        <a:rPr lang="fr-FR" sz="1800"/>
                        <a:t>RMSE (all)</a:t>
                      </a:r>
                    </a:p>
                  </a:txBody>
                  <a:tcPr anchor="ctr"/>
                </a:tc>
                <a:tc>
                  <a:txBody>
                    <a:bodyPr/>
                    <a:lstStyle/>
                    <a:p>
                      <a:pPr>
                        <a:buNone/>
                      </a:pPr>
                      <a:r>
                        <a:rPr lang="fr-FR" sz="1800"/>
                        <a:t>RMSE Temp</a:t>
                      </a:r>
                    </a:p>
                  </a:txBody>
                  <a:tcPr anchor="ctr"/>
                </a:tc>
                <a:tc>
                  <a:txBody>
                    <a:bodyPr/>
                    <a:lstStyle/>
                    <a:p>
                      <a:pPr>
                        <a:buNone/>
                      </a:pPr>
                      <a:r>
                        <a:rPr lang="fr-FR" sz="1800"/>
                        <a:t>RMSE Precip</a:t>
                      </a:r>
                    </a:p>
                  </a:txBody>
                  <a:tcPr anchor="ctr"/>
                </a:tc>
                <a:extLst>
                  <a:ext uri="{0D108BD9-81ED-4DB2-BD59-A6C34878D82A}">
                    <a16:rowId xmlns:a16="http://schemas.microsoft.com/office/drawing/2014/main" val="2515395894"/>
                  </a:ext>
                </a:extLst>
              </a:tr>
              <a:tr h="640080">
                <a:tc>
                  <a:txBody>
                    <a:bodyPr/>
                    <a:lstStyle/>
                    <a:p>
                      <a:pPr>
                        <a:buNone/>
                      </a:pPr>
                      <a:r>
                        <a:rPr lang="fr-FR" sz="1800" b="0" dirty="0">
                          <a:highlight>
                            <a:srgbClr val="FFFF00"/>
                          </a:highlight>
                        </a:rPr>
                        <a:t>Stack + Linear </a:t>
                      </a:r>
                      <a:r>
                        <a:rPr lang="fr-FR" sz="1800" b="0" dirty="0" err="1">
                          <a:highlight>
                            <a:srgbClr val="FFFF00"/>
                          </a:highlight>
                        </a:rPr>
                        <a:t>Regression</a:t>
                      </a:r>
                      <a:r>
                        <a:rPr lang="fr-FR" sz="1800" b="0" dirty="0">
                          <a:highlight>
                            <a:srgbClr val="FFFF00"/>
                          </a:highlight>
                        </a:rPr>
                        <a:t> </a:t>
                      </a:r>
                    </a:p>
                  </a:txBody>
                  <a:tcPr anchor="ctr"/>
                </a:tc>
                <a:tc>
                  <a:txBody>
                    <a:bodyPr/>
                    <a:lstStyle/>
                    <a:p>
                      <a:pPr>
                        <a:buNone/>
                      </a:pPr>
                      <a:r>
                        <a:rPr lang="fr-FR" sz="1800" dirty="0">
                          <a:highlight>
                            <a:srgbClr val="FFFF00"/>
                          </a:highlight>
                        </a:rPr>
                        <a:t>32.46</a:t>
                      </a:r>
                    </a:p>
                  </a:txBody>
                  <a:tcPr anchor="ctr"/>
                </a:tc>
                <a:tc>
                  <a:txBody>
                    <a:bodyPr/>
                    <a:lstStyle/>
                    <a:p>
                      <a:pPr>
                        <a:buNone/>
                      </a:pPr>
                      <a:r>
                        <a:rPr lang="fr-FR" sz="1800" b="0" dirty="0">
                          <a:highlight>
                            <a:srgbClr val="FFFF00"/>
                          </a:highlight>
                        </a:rPr>
                        <a:t>3.94 </a:t>
                      </a:r>
                    </a:p>
                  </a:txBody>
                  <a:tcPr anchor="ctr"/>
                </a:tc>
                <a:tc>
                  <a:txBody>
                    <a:bodyPr/>
                    <a:lstStyle/>
                    <a:p>
                      <a:pPr>
                        <a:buNone/>
                      </a:pPr>
                      <a:r>
                        <a:rPr lang="fr-FR" sz="1800"/>
                        <a:t>0.0041</a:t>
                      </a:r>
                    </a:p>
                  </a:txBody>
                  <a:tcPr anchor="ctr"/>
                </a:tc>
                <a:extLst>
                  <a:ext uri="{0D108BD9-81ED-4DB2-BD59-A6C34878D82A}">
                    <a16:rowId xmlns:a16="http://schemas.microsoft.com/office/drawing/2014/main" val="1180289680"/>
                  </a:ext>
                </a:extLst>
              </a:tr>
              <a:tr h="640080">
                <a:tc>
                  <a:txBody>
                    <a:bodyPr/>
                    <a:lstStyle/>
                    <a:p>
                      <a:pPr>
                        <a:buNone/>
                      </a:pPr>
                      <a:r>
                        <a:rPr lang="fr-FR" sz="1800" dirty="0"/>
                        <a:t>Stack + Random Forest</a:t>
                      </a:r>
                    </a:p>
                  </a:txBody>
                  <a:tcPr anchor="ctr"/>
                </a:tc>
                <a:tc>
                  <a:txBody>
                    <a:bodyPr/>
                    <a:lstStyle/>
                    <a:p>
                      <a:pPr>
                        <a:buNone/>
                      </a:pPr>
                      <a:r>
                        <a:rPr lang="fr-FR" sz="1800"/>
                        <a:t>33.55</a:t>
                      </a:r>
                    </a:p>
                  </a:txBody>
                  <a:tcPr anchor="ctr"/>
                </a:tc>
                <a:tc>
                  <a:txBody>
                    <a:bodyPr/>
                    <a:lstStyle/>
                    <a:p>
                      <a:pPr>
                        <a:buNone/>
                      </a:pPr>
                      <a:r>
                        <a:rPr lang="fr-FR" sz="1800" dirty="0"/>
                        <a:t>5.55</a:t>
                      </a:r>
                    </a:p>
                  </a:txBody>
                  <a:tcPr anchor="ctr"/>
                </a:tc>
                <a:tc>
                  <a:txBody>
                    <a:bodyPr/>
                    <a:lstStyle/>
                    <a:p>
                      <a:pPr>
                        <a:buNone/>
                      </a:pPr>
                      <a:r>
                        <a:rPr lang="fr-FR" sz="1800" b="0" dirty="0">
                          <a:highlight>
                            <a:srgbClr val="FFFF00"/>
                          </a:highlight>
                        </a:rPr>
                        <a:t>0.0037</a:t>
                      </a:r>
                      <a:r>
                        <a:rPr lang="fr-FR" sz="1800" dirty="0">
                          <a:highlight>
                            <a:srgbClr val="FFFF00"/>
                          </a:highlight>
                        </a:rPr>
                        <a:t> </a:t>
                      </a:r>
                    </a:p>
                  </a:txBody>
                  <a:tcPr anchor="ctr"/>
                </a:tc>
                <a:extLst>
                  <a:ext uri="{0D108BD9-81ED-4DB2-BD59-A6C34878D82A}">
                    <a16:rowId xmlns:a16="http://schemas.microsoft.com/office/drawing/2014/main" val="1838973266"/>
                  </a:ext>
                </a:extLst>
              </a:tr>
              <a:tr h="365760">
                <a:tc>
                  <a:txBody>
                    <a:bodyPr/>
                    <a:lstStyle/>
                    <a:p>
                      <a:pPr>
                        <a:buNone/>
                      </a:pPr>
                      <a:r>
                        <a:rPr lang="fr-FR" sz="1800"/>
                        <a:t>Random Forest</a:t>
                      </a:r>
                    </a:p>
                  </a:txBody>
                  <a:tcPr anchor="ctr"/>
                </a:tc>
                <a:tc>
                  <a:txBody>
                    <a:bodyPr/>
                    <a:lstStyle/>
                    <a:p>
                      <a:pPr>
                        <a:buNone/>
                      </a:pPr>
                      <a:r>
                        <a:rPr lang="fr-FR" sz="1800"/>
                        <a:t>36.69</a:t>
                      </a:r>
                    </a:p>
                  </a:txBody>
                  <a:tcPr anchor="ctr"/>
                </a:tc>
                <a:tc>
                  <a:txBody>
                    <a:bodyPr/>
                    <a:lstStyle/>
                    <a:p>
                      <a:pPr>
                        <a:buNone/>
                      </a:pPr>
                      <a:r>
                        <a:rPr lang="fr-FR" sz="1800"/>
                        <a:t>5.26</a:t>
                      </a:r>
                    </a:p>
                  </a:txBody>
                  <a:tcPr anchor="ctr"/>
                </a:tc>
                <a:tc>
                  <a:txBody>
                    <a:bodyPr/>
                    <a:lstStyle/>
                    <a:p>
                      <a:pPr>
                        <a:buNone/>
                      </a:pPr>
                      <a:r>
                        <a:rPr lang="fr-FR" sz="1800"/>
                        <a:t>0.0038</a:t>
                      </a:r>
                    </a:p>
                  </a:txBody>
                  <a:tcPr anchor="ctr"/>
                </a:tc>
                <a:extLst>
                  <a:ext uri="{0D108BD9-81ED-4DB2-BD59-A6C34878D82A}">
                    <a16:rowId xmlns:a16="http://schemas.microsoft.com/office/drawing/2014/main" val="240440982"/>
                  </a:ext>
                </a:extLst>
              </a:tr>
              <a:tr h="365760">
                <a:tc>
                  <a:txBody>
                    <a:bodyPr/>
                    <a:lstStyle/>
                    <a:p>
                      <a:pPr>
                        <a:buNone/>
                      </a:pPr>
                      <a:r>
                        <a:rPr lang="fr-FR" sz="1800"/>
                        <a:t>LSTM</a:t>
                      </a:r>
                    </a:p>
                  </a:txBody>
                  <a:tcPr anchor="ctr"/>
                </a:tc>
                <a:tc>
                  <a:txBody>
                    <a:bodyPr/>
                    <a:lstStyle/>
                    <a:p>
                      <a:pPr>
                        <a:buNone/>
                      </a:pPr>
                      <a:r>
                        <a:rPr lang="fr-FR" sz="1800"/>
                        <a:t>52.21</a:t>
                      </a:r>
                    </a:p>
                  </a:txBody>
                  <a:tcPr anchor="ctr"/>
                </a:tc>
                <a:tc>
                  <a:txBody>
                    <a:bodyPr/>
                    <a:lstStyle/>
                    <a:p>
                      <a:pPr>
                        <a:buNone/>
                      </a:pPr>
                      <a:r>
                        <a:rPr lang="fr-FR" sz="1800"/>
                        <a:t>5.34</a:t>
                      </a:r>
                    </a:p>
                  </a:txBody>
                  <a:tcPr anchor="ctr"/>
                </a:tc>
                <a:tc>
                  <a:txBody>
                    <a:bodyPr/>
                    <a:lstStyle/>
                    <a:p>
                      <a:pPr>
                        <a:buNone/>
                      </a:pPr>
                      <a:r>
                        <a:rPr lang="fr-FR" sz="1800" dirty="0"/>
                        <a:t>0.0092</a:t>
                      </a:r>
                    </a:p>
                  </a:txBody>
                  <a:tcPr anchor="ctr"/>
                </a:tc>
                <a:extLst>
                  <a:ext uri="{0D108BD9-81ED-4DB2-BD59-A6C34878D82A}">
                    <a16:rowId xmlns:a16="http://schemas.microsoft.com/office/drawing/2014/main" val="1096802610"/>
                  </a:ext>
                </a:extLst>
              </a:tr>
            </a:tbl>
          </a:graphicData>
        </a:graphic>
      </p:graphicFrame>
      <p:sp>
        <p:nvSpPr>
          <p:cNvPr id="6" name="TextBox 5">
            <a:extLst>
              <a:ext uri="{FF2B5EF4-FFF2-40B4-BE49-F238E27FC236}">
                <a16:creationId xmlns:a16="http://schemas.microsoft.com/office/drawing/2014/main" id="{E644E579-7C2F-200F-3699-B75B5F217D66}"/>
              </a:ext>
            </a:extLst>
          </p:cNvPr>
          <p:cNvSpPr txBox="1"/>
          <p:nvPr/>
        </p:nvSpPr>
        <p:spPr>
          <a:xfrm>
            <a:off x="418523" y="4248835"/>
            <a:ext cx="8306953" cy="2031325"/>
          </a:xfrm>
          <a:prstGeom prst="rect">
            <a:avLst/>
          </a:prstGeom>
          <a:noFill/>
        </p:spPr>
        <p:txBody>
          <a:bodyPr wrap="square">
            <a:spAutoFit/>
          </a:bodyPr>
          <a:lstStyle/>
          <a:p>
            <a:pPr marL="285750" indent="-285750">
              <a:buFont typeface="Arial" panose="020B0604020202020204" pitchFamily="34" charset="0"/>
              <a:buChar char="•"/>
            </a:pPr>
            <a:r>
              <a:rPr lang="en-US" dirty="0"/>
              <a:t>The stacking ensemble outperforms both base models across all metrics.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Linear Regression meta-learner achieves the best temperature RMSE and the RF meta-learner achieves the best precipitation RMSE.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Random Forest outperforms the LSTM in isolation, where the RF's sample efficiency outweighs the LSTM's sequential modelling advantage at this data scale.</a:t>
            </a:r>
            <a:endParaRPr lang="fr-FR" dirty="0"/>
          </a:p>
        </p:txBody>
      </p:sp>
      <p:sp>
        <p:nvSpPr>
          <p:cNvPr id="8" name="Slide Number Placeholder 7">
            <a:extLst>
              <a:ext uri="{FF2B5EF4-FFF2-40B4-BE49-F238E27FC236}">
                <a16:creationId xmlns:a16="http://schemas.microsoft.com/office/drawing/2014/main" id="{B14CB314-22D6-E3BE-325E-E44D659E8FEE}"/>
              </a:ext>
            </a:extLst>
          </p:cNvPr>
          <p:cNvSpPr>
            <a:spLocks noGrp="1"/>
          </p:cNvSpPr>
          <p:nvPr>
            <p:ph type="sldNum" sz="quarter" idx="12"/>
          </p:nvPr>
        </p:nvSpPr>
        <p:spPr/>
        <p:txBody>
          <a:bodyPr/>
          <a:lstStyle/>
          <a:p>
            <a:fld id="{C1FF6DA9-008F-8B48-92A6-B652298478BF}" type="slidenum">
              <a:rPr lang="en-US" smtClean="0"/>
              <a:t>19</a:t>
            </a:fld>
            <a:endParaRPr lang="en-US"/>
          </a:p>
        </p:txBody>
      </p:sp>
    </p:spTree>
    <p:extLst>
      <p:ext uri="{BB962C8B-B14F-4D97-AF65-F5344CB8AC3E}">
        <p14:creationId xmlns:p14="http://schemas.microsoft.com/office/powerpoint/2010/main" val="628463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EE3C9-02E2-3B79-1AEA-608979B6624E}"/>
              </a:ext>
            </a:extLst>
          </p:cNvPr>
          <p:cNvSpPr>
            <a:spLocks noGrp="1"/>
          </p:cNvSpPr>
          <p:nvPr>
            <p:ph type="title"/>
          </p:nvPr>
        </p:nvSpPr>
        <p:spPr>
          <a:xfrm>
            <a:off x="492919" y="499533"/>
            <a:ext cx="8079581" cy="778661"/>
          </a:xfrm>
        </p:spPr>
        <p:txBody>
          <a:bodyPr>
            <a:normAutofit fontScale="90000"/>
          </a:bodyPr>
          <a:lstStyle/>
          <a:p>
            <a:r>
              <a:rPr lang="fr-FR" dirty="0" err="1">
                <a:solidFill>
                  <a:srgbClr val="FF4A00"/>
                </a:solidFill>
              </a:rPr>
              <a:t>Feature</a:t>
            </a:r>
            <a:r>
              <a:rPr lang="fr-FR" dirty="0">
                <a:solidFill>
                  <a:srgbClr val="FF4A00"/>
                </a:solidFill>
              </a:rPr>
              <a:t> Importance </a:t>
            </a:r>
            <a:r>
              <a:rPr lang="en-US" dirty="0">
                <a:solidFill>
                  <a:srgbClr val="FF4A00"/>
                </a:solidFill>
              </a:rPr>
              <a:t>Random Forest</a:t>
            </a:r>
            <a:endParaRPr lang="fr-FR" dirty="0">
              <a:solidFill>
                <a:srgbClr val="FF4A00"/>
              </a:solidFill>
            </a:endParaRPr>
          </a:p>
        </p:txBody>
      </p:sp>
      <p:pic>
        <p:nvPicPr>
          <p:cNvPr id="5" name="Content Placeholder 4">
            <a:extLst>
              <a:ext uri="{FF2B5EF4-FFF2-40B4-BE49-F238E27FC236}">
                <a16:creationId xmlns:a16="http://schemas.microsoft.com/office/drawing/2014/main" id="{2DE9BF3C-F916-95C4-1A81-D08E2521C8BB}"/>
              </a:ext>
            </a:extLst>
          </p:cNvPr>
          <p:cNvPicPr>
            <a:picLocks noGrp="1" noChangeAspect="1"/>
          </p:cNvPicPr>
          <p:nvPr>
            <p:ph idx="1"/>
          </p:nvPr>
        </p:nvPicPr>
        <p:blipFill>
          <a:blip r:embed="rId2"/>
          <a:stretch>
            <a:fillRect/>
          </a:stretch>
        </p:blipFill>
        <p:spPr>
          <a:xfrm>
            <a:off x="732148" y="1612492"/>
            <a:ext cx="7477787" cy="4473676"/>
          </a:xfrm>
          <a:prstGeom prst="rect">
            <a:avLst/>
          </a:prstGeom>
        </p:spPr>
      </p:pic>
      <p:sp>
        <p:nvSpPr>
          <p:cNvPr id="8" name="Slide Number Placeholder 7">
            <a:extLst>
              <a:ext uri="{FF2B5EF4-FFF2-40B4-BE49-F238E27FC236}">
                <a16:creationId xmlns:a16="http://schemas.microsoft.com/office/drawing/2014/main" id="{03BA1688-DF27-5133-C83D-2FCDE3D2E089}"/>
              </a:ext>
            </a:extLst>
          </p:cNvPr>
          <p:cNvSpPr>
            <a:spLocks noGrp="1"/>
          </p:cNvSpPr>
          <p:nvPr>
            <p:ph type="sldNum" sz="quarter" idx="12"/>
          </p:nvPr>
        </p:nvSpPr>
        <p:spPr/>
        <p:txBody>
          <a:bodyPr/>
          <a:lstStyle/>
          <a:p>
            <a:fld id="{C1FF6DA9-008F-8B48-92A6-B652298478BF}" type="slidenum">
              <a:rPr lang="en-US" smtClean="0"/>
              <a:t>20</a:t>
            </a:fld>
            <a:endParaRPr lang="en-US"/>
          </a:p>
        </p:txBody>
      </p:sp>
    </p:spTree>
    <p:extLst>
      <p:ext uri="{BB962C8B-B14F-4D97-AF65-F5344CB8AC3E}">
        <p14:creationId xmlns:p14="http://schemas.microsoft.com/office/powerpoint/2010/main" val="3349766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146FA-B071-85DB-26E6-6B980CA24397}"/>
              </a:ext>
            </a:extLst>
          </p:cNvPr>
          <p:cNvSpPr>
            <a:spLocks noGrp="1"/>
          </p:cNvSpPr>
          <p:nvPr>
            <p:ph type="title"/>
          </p:nvPr>
        </p:nvSpPr>
        <p:spPr>
          <a:xfrm>
            <a:off x="492919" y="499533"/>
            <a:ext cx="8079581" cy="778661"/>
          </a:xfrm>
        </p:spPr>
        <p:txBody>
          <a:bodyPr>
            <a:normAutofit fontScale="90000"/>
          </a:bodyPr>
          <a:lstStyle/>
          <a:p>
            <a:r>
              <a:rPr lang="en-US" dirty="0">
                <a:solidFill>
                  <a:srgbClr val="FF4A00"/>
                </a:solidFill>
              </a:rPr>
              <a:t>Feature importance Random Forest using SHAP</a:t>
            </a:r>
            <a:endParaRPr lang="fr-FR" dirty="0">
              <a:solidFill>
                <a:srgbClr val="FF4A00"/>
              </a:solidFill>
            </a:endParaRPr>
          </a:p>
        </p:txBody>
      </p:sp>
      <p:pic>
        <p:nvPicPr>
          <p:cNvPr id="9" name="Content Placeholder 8">
            <a:extLst>
              <a:ext uri="{FF2B5EF4-FFF2-40B4-BE49-F238E27FC236}">
                <a16:creationId xmlns:a16="http://schemas.microsoft.com/office/drawing/2014/main" id="{0807793D-850F-35F8-C775-1AFBF0DEAA69}"/>
              </a:ext>
            </a:extLst>
          </p:cNvPr>
          <p:cNvPicPr>
            <a:picLocks noGrp="1" noChangeAspect="1"/>
          </p:cNvPicPr>
          <p:nvPr>
            <p:ph idx="1"/>
          </p:nvPr>
        </p:nvPicPr>
        <p:blipFill>
          <a:blip r:embed="rId2"/>
          <a:stretch>
            <a:fillRect/>
          </a:stretch>
        </p:blipFill>
        <p:spPr>
          <a:xfrm>
            <a:off x="864362" y="1551448"/>
            <a:ext cx="7415275" cy="4711700"/>
          </a:xfrm>
          <a:prstGeom prst="rect">
            <a:avLst/>
          </a:prstGeom>
        </p:spPr>
      </p:pic>
      <p:sp>
        <p:nvSpPr>
          <p:cNvPr id="11" name="Slide Number Placeholder 10">
            <a:extLst>
              <a:ext uri="{FF2B5EF4-FFF2-40B4-BE49-F238E27FC236}">
                <a16:creationId xmlns:a16="http://schemas.microsoft.com/office/drawing/2014/main" id="{729C7BA0-1306-F890-7400-966D795AF352}"/>
              </a:ext>
            </a:extLst>
          </p:cNvPr>
          <p:cNvSpPr>
            <a:spLocks noGrp="1"/>
          </p:cNvSpPr>
          <p:nvPr>
            <p:ph type="sldNum" sz="quarter" idx="12"/>
          </p:nvPr>
        </p:nvSpPr>
        <p:spPr/>
        <p:txBody>
          <a:bodyPr/>
          <a:lstStyle/>
          <a:p>
            <a:fld id="{C1FF6DA9-008F-8B48-92A6-B652298478BF}" type="slidenum">
              <a:rPr lang="en-US" smtClean="0"/>
              <a:t>21</a:t>
            </a:fld>
            <a:endParaRPr lang="en-US"/>
          </a:p>
        </p:txBody>
      </p:sp>
    </p:spTree>
    <p:extLst>
      <p:ext uri="{BB962C8B-B14F-4D97-AF65-F5344CB8AC3E}">
        <p14:creationId xmlns:p14="http://schemas.microsoft.com/office/powerpoint/2010/main" val="3820555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919" y="499533"/>
            <a:ext cx="8079581" cy="768828"/>
          </a:xfrm>
        </p:spPr>
        <p:txBody>
          <a:bodyPr/>
          <a:lstStyle/>
          <a:p>
            <a:r>
              <a:rPr lang="fr-FR" dirty="0">
                <a:solidFill>
                  <a:srgbClr val="FF4A00"/>
                </a:solidFill>
              </a:rPr>
              <a:t>Conclusion &amp; Next </a:t>
            </a:r>
            <a:r>
              <a:rPr lang="fr-FR" dirty="0" err="1">
                <a:solidFill>
                  <a:srgbClr val="FF4A00"/>
                </a:solidFill>
              </a:rPr>
              <a:t>Steps</a:t>
            </a:r>
            <a:endParaRPr dirty="0">
              <a:solidFill>
                <a:srgbClr val="FF4A00"/>
              </a:solidFill>
            </a:endParaRPr>
          </a:p>
        </p:txBody>
      </p:sp>
      <p:sp>
        <p:nvSpPr>
          <p:cNvPr id="3" name="Content Placeholder 2"/>
          <p:cNvSpPr>
            <a:spLocks noGrp="1"/>
          </p:cNvSpPr>
          <p:nvPr>
            <p:ph idx="1"/>
          </p:nvPr>
        </p:nvSpPr>
        <p:spPr>
          <a:xfrm>
            <a:off x="492919" y="1403457"/>
            <a:ext cx="8065294" cy="3766185"/>
          </a:xfrm>
        </p:spPr>
        <p:txBody>
          <a:bodyPr>
            <a:normAutofit/>
          </a:bodyPr>
          <a:lstStyle/>
          <a:p>
            <a:pPr>
              <a:buFont typeface="Arial" panose="020B0604020202020204" pitchFamily="34" charset="0"/>
              <a:buChar char="•"/>
            </a:pPr>
            <a:r>
              <a:rPr lang="en-US" dirty="0"/>
              <a:t> month is the dominant feature for the RF meta-learner which makes sense, monthly seasonality is the strongest signal in temperature and precipitation in a Mediterranean climate.</a:t>
            </a:r>
          </a:p>
          <a:p>
            <a:pPr>
              <a:buFont typeface="Arial" panose="020B0604020202020204" pitchFamily="34" charset="0"/>
              <a:buChar char="•"/>
            </a:pPr>
            <a:r>
              <a:rPr lang="en-US" dirty="0"/>
              <a:t> day follows, capturing within-month variability.</a:t>
            </a:r>
          </a:p>
          <a:p>
            <a:pPr>
              <a:buFont typeface="Arial" panose="020B0604020202020204" pitchFamily="34" charset="0"/>
              <a:buChar char="•"/>
            </a:pPr>
            <a:r>
              <a:rPr lang="en-US" dirty="0"/>
              <a:t> </a:t>
            </a:r>
            <a:r>
              <a:rPr lang="en-US" dirty="0" err="1"/>
              <a:t>moon_illumination</a:t>
            </a:r>
            <a:r>
              <a:rPr lang="en-US" dirty="0"/>
              <a:t> appearing in the top 5 likely acts as a proxy for the lunar calendar cycle, which correlates with the month signal.</a:t>
            </a:r>
          </a:p>
          <a:p>
            <a:pPr marL="0" indent="0">
              <a:buNone/>
            </a:pPr>
            <a:r>
              <a:rPr lang="fr-FR" dirty="0"/>
              <a:t> </a:t>
            </a:r>
            <a:r>
              <a:rPr lang="en-US" dirty="0"/>
              <a:t>• Future work: Fine-tune models, add more model types to the ensemble model stack, and deploy for real-time forecasting.</a:t>
            </a:r>
            <a:endParaRPr lang="fr-FR" dirty="0"/>
          </a:p>
          <a:p>
            <a:pPr marL="0" indent="0">
              <a:buNone/>
            </a:pPr>
            <a:endParaRPr lang="en-US" dirty="0"/>
          </a:p>
        </p:txBody>
      </p:sp>
      <p:sp>
        <p:nvSpPr>
          <p:cNvPr id="5" name="Slide Number Placeholder 4">
            <a:extLst>
              <a:ext uri="{FF2B5EF4-FFF2-40B4-BE49-F238E27FC236}">
                <a16:creationId xmlns:a16="http://schemas.microsoft.com/office/drawing/2014/main" id="{024D0C2B-60FF-BA49-CE10-E230BD45F7F5}"/>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Weather data Images - Free Download on Freepik">
            <a:extLst>
              <a:ext uri="{FF2B5EF4-FFF2-40B4-BE49-F238E27FC236}">
                <a16:creationId xmlns:a16="http://schemas.microsoft.com/office/drawing/2014/main" id="{D55A35C2-66B3-4403-05F8-BF2DDB0FCF12}"/>
              </a:ext>
            </a:extLst>
          </p:cNvPr>
          <p:cNvPicPr>
            <a:picLocks noChangeAspect="1" noChangeArrowheads="1"/>
          </p:cNvPicPr>
          <p:nvPr/>
        </p:nvPicPr>
        <p:blipFill>
          <a:blip r:embed="rId3">
            <a:alphaModFix amt="85000"/>
            <a:extLst>
              <a:ext uri="{BEBA8EAE-BF5A-486C-A8C5-ECC9F3942E4B}">
                <a14:imgProps xmlns:a14="http://schemas.microsoft.com/office/drawing/2010/main">
                  <a14:imgLayer r:embed="rId4">
                    <a14:imgEffect>
                      <a14:artisticBlur radius="11"/>
                    </a14:imgEffect>
                    <a14:imgEffect>
                      <a14:colorTemperature colorTemp="11500"/>
                    </a14:imgEffect>
                    <a14:imgEffect>
                      <a14:saturation sat="64000"/>
                    </a14:imgEffect>
                  </a14:imgLayer>
                </a14:imgProps>
              </a:ext>
              <a:ext uri="{28A0092B-C50C-407E-A947-70E740481C1C}">
                <a14:useLocalDpi xmlns:a14="http://schemas.microsoft.com/office/drawing/2010/main" val="0"/>
              </a:ext>
            </a:extLst>
          </a:blip>
          <a:srcRect/>
          <a:stretch>
            <a:fillRect/>
          </a:stretch>
        </p:blipFill>
        <p:spPr bwMode="auto">
          <a:xfrm>
            <a:off x="0" y="0"/>
            <a:ext cx="9144000" cy="6836843"/>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29700B9-6B84-6553-5689-D9A78AED8B4D}"/>
              </a:ext>
            </a:extLst>
          </p:cNvPr>
          <p:cNvSpPr>
            <a:spLocks noGrp="1"/>
          </p:cNvSpPr>
          <p:nvPr>
            <p:ph type="title"/>
          </p:nvPr>
        </p:nvSpPr>
        <p:spPr>
          <a:xfrm>
            <a:off x="492919" y="2456153"/>
            <a:ext cx="8079581" cy="1658198"/>
          </a:xfrm>
        </p:spPr>
        <p:txBody>
          <a:bodyPr>
            <a:normAutofit fontScale="90000"/>
          </a:bodyPr>
          <a:lstStyle/>
          <a:p>
            <a:pPr algn="ctr"/>
            <a:r>
              <a:rPr lang="fr-FR" sz="11500" dirty="0" err="1">
                <a:ln>
                  <a:solidFill>
                    <a:schemeClr val="tx1">
                      <a:lumMod val="50000"/>
                      <a:lumOff val="50000"/>
                    </a:schemeClr>
                  </a:solidFill>
                </a:ln>
                <a:solidFill>
                  <a:srgbClr val="FF4A00"/>
                </a:solidFill>
              </a:rPr>
              <a:t>Thank</a:t>
            </a:r>
            <a:r>
              <a:rPr lang="fr-FR" sz="11500" dirty="0">
                <a:ln>
                  <a:solidFill>
                    <a:schemeClr val="tx1">
                      <a:lumMod val="50000"/>
                      <a:lumOff val="50000"/>
                    </a:schemeClr>
                  </a:solidFill>
                </a:ln>
                <a:solidFill>
                  <a:srgbClr val="FF4A00"/>
                </a:solidFill>
              </a:rPr>
              <a:t> You</a:t>
            </a:r>
          </a:p>
        </p:txBody>
      </p:sp>
    </p:spTree>
    <p:extLst>
      <p:ext uri="{BB962C8B-B14F-4D97-AF65-F5344CB8AC3E}">
        <p14:creationId xmlns:p14="http://schemas.microsoft.com/office/powerpoint/2010/main" val="833787590"/>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466</TotalTime>
  <Words>811</Words>
  <Application>Microsoft Office PowerPoint</Application>
  <PresentationFormat>On-screen Show (4:3)</PresentationFormat>
  <Paragraphs>145</Paragraphs>
  <Slides>23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Metropolitan</vt:lpstr>
      <vt:lpstr>Weather Data Analysis &amp; Forecasting</vt:lpstr>
      <vt:lpstr>Mission</vt:lpstr>
      <vt:lpstr>Introduction</vt:lpstr>
      <vt:lpstr>Data Exploration</vt:lpstr>
      <vt:lpstr>Data Cleaning &amp; Preparation</vt:lpstr>
      <vt:lpstr>Outlier Detection</vt:lpstr>
      <vt:lpstr>Feature Engineering</vt:lpstr>
      <vt:lpstr>Correlation Analysis</vt:lpstr>
      <vt:lpstr>Plots</vt:lpstr>
      <vt:lpstr>PowerPoint Presentation</vt:lpstr>
      <vt:lpstr>PowerPoint Presentation</vt:lpstr>
      <vt:lpstr>Forecasting Models </vt:lpstr>
      <vt:lpstr>LSTM Train</vt:lpstr>
      <vt:lpstr>LSTM Test</vt:lpstr>
      <vt:lpstr>Random Forest Train</vt:lpstr>
      <vt:lpstr>Random Forest Test</vt:lpstr>
      <vt:lpstr>Stacking Ensemble: Linear Regression</vt:lpstr>
      <vt:lpstr>Stacking Ensemble: Random Forest</vt:lpstr>
      <vt:lpstr>Model Comparison</vt:lpstr>
      <vt:lpstr>Feature Importance Random Forest</vt:lpstr>
      <vt:lpstr>Feature importance Random Forest using SHAP</vt:lpstr>
      <vt:lpstr>Conclusion &amp; Next Steps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Saif Rejeb</cp:lastModifiedBy>
  <cp:revision>5</cp:revision>
  <dcterms:created xsi:type="dcterms:W3CDTF">2013-01-27T09:14:16Z</dcterms:created>
  <dcterms:modified xsi:type="dcterms:W3CDTF">2026-04-27T23:01:26Z</dcterms:modified>
  <cp:category/>
</cp:coreProperties>
</file>